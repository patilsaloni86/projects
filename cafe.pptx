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theme/themeOverride9.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9" r:id="rId2"/>
    <p:sldId id="258" r:id="rId3"/>
    <p:sldId id="257" r:id="rId4"/>
    <p:sldId id="260" r:id="rId5"/>
    <p:sldId id="261" r:id="rId6"/>
    <p:sldId id="265" r:id="rId7"/>
    <p:sldId id="262" r:id="rId8"/>
    <p:sldId id="266" r:id="rId9"/>
    <p:sldId id="263" r:id="rId10"/>
    <p:sldId id="264" r:id="rId11"/>
    <p:sldId id="267" r:id="rId12"/>
    <p:sldId id="268" r:id="rId13"/>
    <p:sldId id="269" r:id="rId14"/>
    <p:sldId id="270" r:id="rId15"/>
    <p:sldId id="271" r:id="rId16"/>
    <p:sldId id="272" r:id="rId17"/>
    <p:sldId id="274" r:id="rId18"/>
    <p:sldId id="279" r:id="rId19"/>
    <p:sldId id="273" r:id="rId20"/>
    <p:sldId id="276" r:id="rId21"/>
    <p:sldId id="277" r:id="rId22"/>
    <p:sldId id="278"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223" autoAdjust="0"/>
  </p:normalViewPr>
  <p:slideViewPr>
    <p:cSldViewPr snapToGrid="0">
      <p:cViewPr varScale="1">
        <p:scale>
          <a:sx n="74" d="100"/>
          <a:sy n="74" d="100"/>
        </p:scale>
        <p:origin x="1042"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B6D06B40-81A0-4351-88FA-1A5D02918B60}" type="datetimeFigureOut">
              <a:rPr lang="en-IN" smtClean="0"/>
              <a:t>30-01-2025</a:t>
            </a:fld>
            <a:endParaRPr lang="en-IN"/>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IN"/>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1A4F501E-71F7-4B66-A082-485D4CE86AC8}" type="slidenum">
              <a:rPr lang="en-IN" smtClean="0"/>
              <a:t>‹#›</a:t>
            </a:fld>
            <a:endParaRPr lang="en-IN"/>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5909426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D06B40-81A0-4351-88FA-1A5D02918B60}" type="datetimeFigureOut">
              <a:rPr lang="en-IN" smtClean="0"/>
              <a:t>30-01-2025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A4F501E-71F7-4B66-A082-485D4CE86AC8}" type="slidenum">
              <a:rPr lang="en-IN" smtClean="0"/>
              <a:t>‹#›</a:t>
            </a:fld>
            <a:endParaRPr lang="en-IN"/>
          </a:p>
        </p:txBody>
      </p:sp>
    </p:spTree>
    <p:extLst>
      <p:ext uri="{BB962C8B-B14F-4D97-AF65-F5344CB8AC3E}">
        <p14:creationId xmlns:p14="http://schemas.microsoft.com/office/powerpoint/2010/main" val="32454293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D06B40-81A0-4351-88FA-1A5D02918B60}" type="datetimeFigureOut">
              <a:rPr lang="en-IN" smtClean="0"/>
              <a:t>30-01-2025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A4F501E-71F7-4B66-A082-485D4CE86AC8}" type="slidenum">
              <a:rPr lang="en-IN" smtClean="0"/>
              <a:t>‹#›</a:t>
            </a:fld>
            <a:endParaRPr lang="en-IN"/>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3144426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D06B40-81A0-4351-88FA-1A5D02918B60}" type="datetimeFigureOut">
              <a:rPr lang="en-IN" smtClean="0"/>
              <a:t>30-01-2025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A4F501E-71F7-4B66-A082-485D4CE86AC8}" type="slidenum">
              <a:rPr lang="en-IN" smtClean="0"/>
              <a:t>‹#›</a:t>
            </a:fld>
            <a:endParaRPr lang="en-IN"/>
          </a:p>
        </p:txBody>
      </p:sp>
    </p:spTree>
    <p:extLst>
      <p:ext uri="{BB962C8B-B14F-4D97-AF65-F5344CB8AC3E}">
        <p14:creationId xmlns:p14="http://schemas.microsoft.com/office/powerpoint/2010/main" val="29225898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D06B40-81A0-4351-88FA-1A5D02918B60}" type="datetimeFigureOut">
              <a:rPr lang="en-IN" smtClean="0"/>
              <a:t>30-01-2025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A4F501E-71F7-4B66-A082-485D4CE86AC8}" type="slidenum">
              <a:rPr lang="en-IN" smtClean="0"/>
              <a:t>‹#›</a:t>
            </a:fld>
            <a:endParaRPr lang="en-IN"/>
          </a:p>
        </p:txBody>
      </p:sp>
    </p:spTree>
    <p:extLst>
      <p:ext uri="{BB962C8B-B14F-4D97-AF65-F5344CB8AC3E}">
        <p14:creationId xmlns:p14="http://schemas.microsoft.com/office/powerpoint/2010/main" val="35005446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D06B40-81A0-4351-88FA-1A5D02918B60}" type="datetimeFigureOut">
              <a:rPr lang="en-IN" smtClean="0"/>
              <a:t>30-01-2025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A4F501E-71F7-4B66-A082-485D4CE86AC8}" type="slidenum">
              <a:rPr lang="en-IN" smtClean="0"/>
              <a:t>‹#›</a:t>
            </a:fld>
            <a:endParaRPr lang="en-IN"/>
          </a:p>
        </p:txBody>
      </p:sp>
    </p:spTree>
    <p:extLst>
      <p:ext uri="{BB962C8B-B14F-4D97-AF65-F5344CB8AC3E}">
        <p14:creationId xmlns:p14="http://schemas.microsoft.com/office/powerpoint/2010/main" val="38662015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D06B40-81A0-4351-88FA-1A5D02918B60}" type="datetimeFigureOut">
              <a:rPr lang="en-IN" smtClean="0"/>
              <a:t>30-01-2025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A4F501E-71F7-4B66-A082-485D4CE86AC8}" type="slidenum">
              <a:rPr lang="en-IN" smtClean="0"/>
              <a:t>‹#›</a:t>
            </a:fld>
            <a:endParaRPr lang="en-IN"/>
          </a:p>
        </p:txBody>
      </p:sp>
    </p:spTree>
    <p:extLst>
      <p:ext uri="{BB962C8B-B14F-4D97-AF65-F5344CB8AC3E}">
        <p14:creationId xmlns:p14="http://schemas.microsoft.com/office/powerpoint/2010/main" val="35114519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D06B40-81A0-4351-88FA-1A5D02918B60}" type="datetimeFigureOut">
              <a:rPr lang="en-IN" smtClean="0"/>
              <a:t>30-01-2025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A4F501E-71F7-4B66-A082-485D4CE86AC8}" type="slidenum">
              <a:rPr lang="en-IN" smtClean="0"/>
              <a:t>‹#›</a:t>
            </a:fld>
            <a:endParaRPr lang="en-IN"/>
          </a:p>
        </p:txBody>
      </p:sp>
    </p:spTree>
    <p:extLst>
      <p:ext uri="{BB962C8B-B14F-4D97-AF65-F5344CB8AC3E}">
        <p14:creationId xmlns:p14="http://schemas.microsoft.com/office/powerpoint/2010/main" val="19823210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D06B40-81A0-4351-88FA-1A5D02918B60}" type="datetimeFigureOut">
              <a:rPr lang="en-IN" smtClean="0"/>
              <a:t>30-01-2025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A4F501E-71F7-4B66-A082-485D4CE86AC8}" type="slidenum">
              <a:rPr lang="en-IN" smtClean="0"/>
              <a:t>‹#›</a:t>
            </a:fld>
            <a:endParaRPr lang="en-IN"/>
          </a:p>
        </p:txBody>
      </p:sp>
    </p:spTree>
    <p:extLst>
      <p:ext uri="{BB962C8B-B14F-4D97-AF65-F5344CB8AC3E}">
        <p14:creationId xmlns:p14="http://schemas.microsoft.com/office/powerpoint/2010/main" val="22145797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D06B40-81A0-4351-88FA-1A5D02918B60}" type="datetimeFigureOut">
              <a:rPr lang="en-IN" smtClean="0"/>
              <a:t>30-01-2025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A4F501E-71F7-4B66-A082-485D4CE86AC8}" type="slidenum">
              <a:rPr lang="en-IN" smtClean="0"/>
              <a:t>‹#›</a:t>
            </a:fld>
            <a:endParaRPr lang="en-IN"/>
          </a:p>
        </p:txBody>
      </p:sp>
    </p:spTree>
    <p:extLst>
      <p:ext uri="{BB962C8B-B14F-4D97-AF65-F5344CB8AC3E}">
        <p14:creationId xmlns:p14="http://schemas.microsoft.com/office/powerpoint/2010/main" val="3098978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D06B40-81A0-4351-88FA-1A5D02918B60}" type="datetimeFigureOut">
              <a:rPr lang="en-IN" smtClean="0"/>
              <a:t>30-01-2025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A4F501E-71F7-4B66-A082-485D4CE86AC8}" type="slidenum">
              <a:rPr lang="en-IN" smtClean="0"/>
              <a:t>‹#›</a:t>
            </a:fld>
            <a:endParaRPr lang="en-IN"/>
          </a:p>
        </p:txBody>
      </p:sp>
    </p:spTree>
    <p:extLst>
      <p:ext uri="{BB962C8B-B14F-4D97-AF65-F5344CB8AC3E}">
        <p14:creationId xmlns:p14="http://schemas.microsoft.com/office/powerpoint/2010/main" val="16836134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B6D06B40-81A0-4351-88FA-1A5D02918B60}" type="datetimeFigureOut">
              <a:rPr lang="en-IN" smtClean="0"/>
              <a:t>30-01-2025</a:t>
            </a:fld>
            <a:endParaRPr lang="en-IN"/>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IN"/>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1A4F501E-71F7-4B66-A082-485D4CE86AC8}" type="slidenum">
              <a:rPr lang="en-IN" smtClean="0"/>
              <a:t>‹#›</a:t>
            </a:fld>
            <a:endParaRPr lang="en-IN"/>
          </a:p>
        </p:txBody>
      </p:sp>
    </p:spTree>
    <p:extLst>
      <p:ext uri="{BB962C8B-B14F-4D97-AF65-F5344CB8AC3E}">
        <p14:creationId xmlns:p14="http://schemas.microsoft.com/office/powerpoint/2010/main" val="4057007050"/>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Layout" Target="../slideLayouts/slideLayout7.xml"/><Relationship Id="rId1" Type="http://schemas.openxmlformats.org/officeDocument/2006/relationships/themeOverride" Target="../theme/themeOverride1.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slideLayout" Target="../slideLayouts/slideLayout7.xml"/><Relationship Id="rId1" Type="http://schemas.openxmlformats.org/officeDocument/2006/relationships/themeOverride" Target="../theme/themeOverride2.xml"/><Relationship Id="rId4" Type="http://schemas.openxmlformats.org/officeDocument/2006/relationships/image" Target="../media/image4.jp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themeOverride" Target="../theme/themeOverride4.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5.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6.xml"/><Relationship Id="rId1" Type="http://schemas.openxmlformats.org/officeDocument/2006/relationships/themeOverride" Target="../theme/themeOverride6.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6.xml"/><Relationship Id="rId1" Type="http://schemas.openxmlformats.org/officeDocument/2006/relationships/themeOverride" Target="../theme/themeOverride7.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6.xml"/><Relationship Id="rId1" Type="http://schemas.openxmlformats.org/officeDocument/2006/relationships/themeOverride" Target="../theme/themeOverride8.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hemeOverride" Target="../theme/themeOverride9.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CCED08-1A95-883D-CB2F-C5A93E2F2E9A}"/>
              </a:ext>
            </a:extLst>
          </p:cNvPr>
          <p:cNvSpPr txBox="1"/>
          <p:nvPr/>
        </p:nvSpPr>
        <p:spPr>
          <a:xfrm>
            <a:off x="2597728" y="197427"/>
            <a:ext cx="6951518" cy="646331"/>
          </a:xfrm>
          <a:prstGeom prst="rect">
            <a:avLst/>
          </a:prstGeom>
          <a:solidFill>
            <a:schemeClr val="accent5">
              <a:lumMod val="20000"/>
              <a:lumOff val="80000"/>
            </a:schemeClr>
          </a:solidFill>
          <a:effectLst>
            <a:outerShdw blurRad="76200" dist="12700" dir="2700000" sy="-23000" kx="-800400" algn="bl" rotWithShape="0">
              <a:prstClr val="black">
                <a:alpha val="20000"/>
              </a:prstClr>
            </a:outerShdw>
          </a:effectLst>
        </p:spPr>
        <p:txBody>
          <a:bodyPr wrap="square" rtlCol="0">
            <a:spAutoFit/>
          </a:bodyPr>
          <a:lstStyle/>
          <a:p>
            <a:r>
              <a:rPr lang="en-US" sz="3600" dirty="0">
                <a:ln>
                  <a:solidFill>
                    <a:schemeClr val="accent2">
                      <a:lumMod val="40000"/>
                      <a:lumOff val="60000"/>
                    </a:schemeClr>
                  </a:solidFill>
                </a:ln>
                <a:solidFill>
                  <a:schemeClr val="accent2">
                    <a:lumMod val="50000"/>
                  </a:schemeClr>
                </a:solidFill>
                <a:latin typeface="Forte" panose="03060902040502070203" pitchFamily="66" charset="0"/>
              </a:rPr>
              <a:t>Coffee Shop Management System</a:t>
            </a:r>
            <a:endParaRPr lang="en-IN" sz="3600" dirty="0">
              <a:ln>
                <a:solidFill>
                  <a:schemeClr val="accent2">
                    <a:lumMod val="40000"/>
                    <a:lumOff val="60000"/>
                  </a:schemeClr>
                </a:solidFill>
              </a:ln>
              <a:solidFill>
                <a:schemeClr val="accent2">
                  <a:lumMod val="50000"/>
                </a:schemeClr>
              </a:solidFill>
              <a:latin typeface="Forte" panose="03060902040502070203" pitchFamily="66" charset="0"/>
            </a:endParaRPr>
          </a:p>
        </p:txBody>
      </p:sp>
      <p:pic>
        <p:nvPicPr>
          <p:cNvPr id="7" name="Picture 6">
            <a:extLst>
              <a:ext uri="{FF2B5EF4-FFF2-40B4-BE49-F238E27FC236}">
                <a16:creationId xmlns:a16="http://schemas.microsoft.com/office/drawing/2014/main" id="{C99E3EA6-DAD7-9C2D-1009-B83BEDF88D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52454" y="1527461"/>
            <a:ext cx="7189055" cy="5216237"/>
          </a:xfrm>
          <a:prstGeom prst="rect">
            <a:avLst/>
          </a:prstGeom>
        </p:spPr>
      </p:pic>
      <p:pic>
        <p:nvPicPr>
          <p:cNvPr id="9" name="Picture 8">
            <a:extLst>
              <a:ext uri="{FF2B5EF4-FFF2-40B4-BE49-F238E27FC236}">
                <a16:creationId xmlns:a16="http://schemas.microsoft.com/office/drawing/2014/main" id="{C3FE090B-118B-1040-382C-6EBAF02008F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7986" y="1527460"/>
            <a:ext cx="3583132" cy="5216238"/>
          </a:xfrm>
          <a:prstGeom prst="rect">
            <a:avLst/>
          </a:prstGeom>
        </p:spPr>
      </p:pic>
    </p:spTree>
    <p:extLst>
      <p:ext uri="{BB962C8B-B14F-4D97-AF65-F5344CB8AC3E}">
        <p14:creationId xmlns:p14="http://schemas.microsoft.com/office/powerpoint/2010/main" val="2031829334"/>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41CF7-7FC1-6AB2-8B96-C67B5E79F4AC}"/>
              </a:ext>
            </a:extLst>
          </p:cNvPr>
          <p:cNvSpPr>
            <a:spLocks noGrp="1"/>
          </p:cNvSpPr>
          <p:nvPr>
            <p:ph type="title" idx="4294967295"/>
          </p:nvPr>
        </p:nvSpPr>
        <p:spPr>
          <a:xfrm>
            <a:off x="584488" y="281999"/>
            <a:ext cx="4200525" cy="791153"/>
          </a:xfrm>
        </p:spPr>
        <p:txBody>
          <a:bodyPr/>
          <a:lstStyle/>
          <a:p>
            <a:r>
              <a:rPr lang="en-US" dirty="0">
                <a:solidFill>
                  <a:schemeClr val="tx2">
                    <a:lumMod val="50000"/>
                  </a:schemeClr>
                </a:solidFill>
                <a:latin typeface="Algerian" panose="04020705040A02060702" pitchFamily="82" charset="0"/>
              </a:rPr>
              <a:t>Introduction</a:t>
            </a:r>
            <a:endParaRPr lang="en-IN" dirty="0">
              <a:solidFill>
                <a:schemeClr val="tx2">
                  <a:lumMod val="50000"/>
                </a:schemeClr>
              </a:solidFill>
              <a:latin typeface="Algerian" panose="04020705040A02060702" pitchFamily="82" charset="0"/>
            </a:endParaRPr>
          </a:p>
        </p:txBody>
      </p:sp>
      <p:sp>
        <p:nvSpPr>
          <p:cNvPr id="3" name="Content Placeholder 2">
            <a:extLst>
              <a:ext uri="{FF2B5EF4-FFF2-40B4-BE49-F238E27FC236}">
                <a16:creationId xmlns:a16="http://schemas.microsoft.com/office/drawing/2014/main" id="{6708F398-FD36-2D1E-8156-A45B956E5842}"/>
              </a:ext>
            </a:extLst>
          </p:cNvPr>
          <p:cNvSpPr>
            <a:spLocks noGrp="1"/>
          </p:cNvSpPr>
          <p:nvPr>
            <p:ph idx="4294967295"/>
          </p:nvPr>
        </p:nvSpPr>
        <p:spPr>
          <a:xfrm>
            <a:off x="584488" y="1321954"/>
            <a:ext cx="5496791" cy="4445000"/>
          </a:xfrm>
        </p:spPr>
        <p:txBody>
          <a:bodyPr>
            <a:normAutofit/>
          </a:bodyPr>
          <a:lstStyle/>
          <a:p>
            <a:pPr marL="0" indent="0" algn="ctr">
              <a:buNone/>
            </a:pPr>
            <a:r>
              <a:rPr lang="en-US" sz="2400" dirty="0">
                <a:solidFill>
                  <a:schemeClr val="accent2">
                    <a:lumMod val="75000"/>
                  </a:schemeClr>
                </a:solidFill>
                <a:latin typeface="Cooper Black" panose="0208090404030B020404" pitchFamily="18" charset="0"/>
              </a:rPr>
              <a:t>The Coffee Shop Management System will help the owner to extract valuable insights from the data like order summary, customer order details, top product sale wise, etc. using SQL queries. It will make their task quick and simple, saving the time for focusing on making improvements or enhancements required in  increasing the profitability of the business</a:t>
            </a:r>
            <a:r>
              <a:rPr lang="en-US" dirty="0">
                <a:solidFill>
                  <a:schemeClr val="tx2">
                    <a:lumMod val="60000"/>
                    <a:lumOff val="40000"/>
                  </a:schemeClr>
                </a:solidFill>
                <a:latin typeface="Cooper Black" panose="0208090404030B020404" pitchFamily="18" charset="0"/>
              </a:rPr>
              <a:t>.</a:t>
            </a:r>
            <a:endParaRPr lang="en-IN" dirty="0">
              <a:solidFill>
                <a:schemeClr val="tx2">
                  <a:lumMod val="60000"/>
                  <a:lumOff val="4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97A0FEA1-8DF5-CF81-48C1-42C35CE42E7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19109" y="281999"/>
            <a:ext cx="3371106" cy="3080762"/>
          </a:xfrm>
          <a:prstGeom prst="rect">
            <a:avLst/>
          </a:prstGeom>
        </p:spPr>
      </p:pic>
      <p:sp>
        <p:nvSpPr>
          <p:cNvPr id="6" name="TextBox 5">
            <a:extLst>
              <a:ext uri="{FF2B5EF4-FFF2-40B4-BE49-F238E27FC236}">
                <a16:creationId xmlns:a16="http://schemas.microsoft.com/office/drawing/2014/main" id="{DF5669E0-3674-8317-6F72-C6C09C02C567}"/>
              </a:ext>
            </a:extLst>
          </p:cNvPr>
          <p:cNvSpPr txBox="1"/>
          <p:nvPr/>
        </p:nvSpPr>
        <p:spPr>
          <a:xfrm>
            <a:off x="5663045" y="623455"/>
            <a:ext cx="3906982" cy="987136"/>
          </a:xfrm>
          <a:prstGeom prst="rect">
            <a:avLst/>
          </a:prstGeom>
          <a:noFill/>
        </p:spPr>
        <p:txBody>
          <a:bodyPr wrap="square" rtlCol="0">
            <a:spAutoFit/>
          </a:bodyPr>
          <a:lstStyle/>
          <a:p>
            <a:endParaRPr lang="en-IN" dirty="0"/>
          </a:p>
        </p:txBody>
      </p:sp>
      <p:pic>
        <p:nvPicPr>
          <p:cNvPr id="8" name="Picture 7">
            <a:extLst>
              <a:ext uri="{FF2B5EF4-FFF2-40B4-BE49-F238E27FC236}">
                <a16:creationId xmlns:a16="http://schemas.microsoft.com/office/drawing/2014/main" id="{71B5D349-69F3-3DC4-84D1-9E0AE8B46F6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19109" y="3429001"/>
            <a:ext cx="3371106" cy="3231572"/>
          </a:xfrm>
          <a:prstGeom prst="rect">
            <a:avLst/>
          </a:prstGeom>
        </p:spPr>
      </p:pic>
    </p:spTree>
    <p:extLst>
      <p:ext uri="{BB962C8B-B14F-4D97-AF65-F5344CB8AC3E}">
        <p14:creationId xmlns:p14="http://schemas.microsoft.com/office/powerpoint/2010/main" val="1886626930"/>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6A044-2D25-00EA-C0CD-B195985AF746}"/>
              </a:ext>
            </a:extLst>
          </p:cNvPr>
          <p:cNvSpPr>
            <a:spLocks noGrp="1"/>
          </p:cNvSpPr>
          <p:nvPr>
            <p:ph type="title"/>
          </p:nvPr>
        </p:nvSpPr>
        <p:spPr/>
        <p:txBody>
          <a:bodyPr/>
          <a:lstStyle/>
          <a:p>
            <a:r>
              <a:rPr lang="en-US" dirty="0"/>
              <a:t>Table of contents</a:t>
            </a:r>
            <a:endParaRPr lang="en-IN" dirty="0"/>
          </a:p>
        </p:txBody>
      </p:sp>
      <p:sp>
        <p:nvSpPr>
          <p:cNvPr id="3" name="Content Placeholder 2">
            <a:extLst>
              <a:ext uri="{FF2B5EF4-FFF2-40B4-BE49-F238E27FC236}">
                <a16:creationId xmlns:a16="http://schemas.microsoft.com/office/drawing/2014/main" id="{73D2BABC-9B4C-AE84-3464-721159476F9C}"/>
              </a:ext>
            </a:extLst>
          </p:cNvPr>
          <p:cNvSpPr>
            <a:spLocks noGrp="1"/>
          </p:cNvSpPr>
          <p:nvPr>
            <p:ph idx="1"/>
          </p:nvPr>
        </p:nvSpPr>
        <p:spPr/>
        <p:txBody>
          <a:bodyPr/>
          <a:lstStyle/>
          <a:p>
            <a:r>
              <a:rPr lang="en-US" sz="2000" b="1" i="1" dirty="0"/>
              <a:t>ER Diagram</a:t>
            </a:r>
          </a:p>
          <a:p>
            <a:r>
              <a:rPr lang="en-US" sz="2000" b="1" i="1" dirty="0"/>
              <a:t>Tables</a:t>
            </a:r>
          </a:p>
          <a:p>
            <a:r>
              <a:rPr lang="en-US" sz="2000" b="1" i="1" dirty="0"/>
              <a:t>Sub-Queries</a:t>
            </a:r>
          </a:p>
          <a:p>
            <a:r>
              <a:rPr lang="en-US" sz="2000" b="1" i="1" dirty="0"/>
              <a:t>Joins</a:t>
            </a:r>
          </a:p>
          <a:p>
            <a:r>
              <a:rPr lang="en-US" sz="2000" b="1" i="1" dirty="0"/>
              <a:t>Views</a:t>
            </a:r>
            <a:endParaRPr lang="en-IN" b="1" i="1" dirty="0"/>
          </a:p>
        </p:txBody>
      </p:sp>
    </p:spTree>
    <p:extLst>
      <p:ext uri="{BB962C8B-B14F-4D97-AF65-F5344CB8AC3E}">
        <p14:creationId xmlns:p14="http://schemas.microsoft.com/office/powerpoint/2010/main" val="3585631739"/>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46F3E-E010-5A3A-F3CB-83750C764B9D}"/>
              </a:ext>
            </a:extLst>
          </p:cNvPr>
          <p:cNvSpPr>
            <a:spLocks noGrp="1"/>
          </p:cNvSpPr>
          <p:nvPr>
            <p:ph type="title"/>
          </p:nvPr>
        </p:nvSpPr>
        <p:spPr>
          <a:xfrm>
            <a:off x="654627" y="197428"/>
            <a:ext cx="9692640" cy="776922"/>
          </a:xfrm>
        </p:spPr>
        <p:txBody>
          <a:bodyPr/>
          <a:lstStyle/>
          <a:p>
            <a:r>
              <a:rPr lang="en-US" dirty="0"/>
              <a:t>ER Diagram</a:t>
            </a:r>
            <a:endParaRPr lang="en-IN" dirty="0"/>
          </a:p>
        </p:txBody>
      </p:sp>
      <p:pic>
        <p:nvPicPr>
          <p:cNvPr id="7" name="Picture 6">
            <a:extLst>
              <a:ext uri="{FF2B5EF4-FFF2-40B4-BE49-F238E27FC236}">
                <a16:creationId xmlns:a16="http://schemas.microsoft.com/office/drawing/2014/main" id="{8035D284-CA43-1681-EB82-6693C5E44C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7625" y="1098879"/>
            <a:ext cx="9539642" cy="5198012"/>
          </a:xfrm>
          <a:prstGeom prst="rect">
            <a:avLst/>
          </a:prstGeom>
        </p:spPr>
      </p:pic>
    </p:spTree>
    <p:extLst>
      <p:ext uri="{BB962C8B-B14F-4D97-AF65-F5344CB8AC3E}">
        <p14:creationId xmlns:p14="http://schemas.microsoft.com/office/powerpoint/2010/main" val="3561748314"/>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8443B61-1849-E781-4373-7D0F57CA0141}"/>
              </a:ext>
            </a:extLst>
          </p:cNvPr>
          <p:cNvSpPr txBox="1"/>
          <p:nvPr/>
        </p:nvSpPr>
        <p:spPr>
          <a:xfrm>
            <a:off x="4062845" y="2339415"/>
            <a:ext cx="8614063" cy="923330"/>
          </a:xfrm>
          <a:prstGeom prst="rect">
            <a:avLst/>
          </a:prstGeom>
          <a:noFill/>
        </p:spPr>
        <p:txBody>
          <a:bodyPr wrap="square" rtlCol="0">
            <a:spAutoFit/>
          </a:bodyPr>
          <a:lstStyle/>
          <a:p>
            <a:r>
              <a:rPr lang="en-US" sz="5400" dirty="0">
                <a:solidFill>
                  <a:schemeClr val="tx2"/>
                </a:solidFill>
                <a:latin typeface="Bodoni MT Black" panose="02070A03080606020203" pitchFamily="18" charset="0"/>
              </a:rPr>
              <a:t>Tables</a:t>
            </a:r>
            <a:endParaRPr lang="en-IN" sz="5400" dirty="0">
              <a:solidFill>
                <a:schemeClr val="tx2"/>
              </a:solidFill>
              <a:latin typeface="Bodoni MT Black" panose="02070A03080606020203" pitchFamily="18" charset="0"/>
            </a:endParaRPr>
          </a:p>
        </p:txBody>
      </p:sp>
    </p:spTree>
    <p:extLst>
      <p:ext uri="{BB962C8B-B14F-4D97-AF65-F5344CB8AC3E}">
        <p14:creationId xmlns:p14="http://schemas.microsoft.com/office/powerpoint/2010/main" val="647204569"/>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554A-628E-0D98-31A3-F82CB626323F}"/>
              </a:ext>
            </a:extLst>
          </p:cNvPr>
          <p:cNvSpPr>
            <a:spLocks noGrp="1"/>
          </p:cNvSpPr>
          <p:nvPr>
            <p:ph type="title"/>
          </p:nvPr>
        </p:nvSpPr>
        <p:spPr>
          <a:xfrm>
            <a:off x="1006533" y="116378"/>
            <a:ext cx="9692640" cy="808413"/>
          </a:xfrm>
        </p:spPr>
        <p:txBody>
          <a:bodyPr/>
          <a:lstStyle/>
          <a:p>
            <a:pPr algn="ctr"/>
            <a:r>
              <a:rPr lang="en-US" dirty="0">
                <a:solidFill>
                  <a:schemeClr val="tx2">
                    <a:lumMod val="75000"/>
                  </a:schemeClr>
                </a:solidFill>
              </a:rPr>
              <a:t>Coffee_snacks table</a:t>
            </a:r>
            <a:endParaRPr lang="en-IN" dirty="0">
              <a:solidFill>
                <a:schemeClr val="tx2">
                  <a:lumMod val="75000"/>
                </a:schemeClr>
              </a:solidFill>
            </a:endParaRPr>
          </a:p>
        </p:txBody>
      </p:sp>
      <p:pic>
        <p:nvPicPr>
          <p:cNvPr id="6" name="Picture 5">
            <a:extLst>
              <a:ext uri="{FF2B5EF4-FFF2-40B4-BE49-F238E27FC236}">
                <a16:creationId xmlns:a16="http://schemas.microsoft.com/office/drawing/2014/main" id="{7EEF7B66-B1C2-38A3-2B71-5130F03256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7235" y="2030305"/>
            <a:ext cx="5392881" cy="2584413"/>
          </a:xfrm>
          <a:prstGeom prst="rect">
            <a:avLst/>
          </a:prstGeom>
        </p:spPr>
      </p:pic>
      <p:sp>
        <p:nvSpPr>
          <p:cNvPr id="7" name="TextBox 6">
            <a:extLst>
              <a:ext uri="{FF2B5EF4-FFF2-40B4-BE49-F238E27FC236}">
                <a16:creationId xmlns:a16="http://schemas.microsoft.com/office/drawing/2014/main" id="{5C617057-0A11-8685-AA49-CA6EF3DF5E16}"/>
              </a:ext>
            </a:extLst>
          </p:cNvPr>
          <p:cNvSpPr txBox="1"/>
          <p:nvPr/>
        </p:nvSpPr>
        <p:spPr>
          <a:xfrm>
            <a:off x="396240" y="952976"/>
            <a:ext cx="9037319" cy="369332"/>
          </a:xfrm>
          <a:prstGeom prst="rect">
            <a:avLst/>
          </a:prstGeom>
          <a:noFill/>
        </p:spPr>
        <p:txBody>
          <a:bodyPr wrap="square" rtlCol="0">
            <a:spAutoFit/>
          </a:bodyPr>
          <a:lstStyle/>
          <a:p>
            <a:r>
              <a:rPr lang="en-US" b="1" dirty="0">
                <a:solidFill>
                  <a:srgbClr val="002060"/>
                </a:solidFill>
              </a:rPr>
              <a:t>The table shows the list of coffees and snacks served, their id and price</a:t>
            </a:r>
            <a:r>
              <a:rPr lang="en-US" dirty="0"/>
              <a:t>.</a:t>
            </a:r>
          </a:p>
        </p:txBody>
      </p:sp>
      <p:pic>
        <p:nvPicPr>
          <p:cNvPr id="4" name="Picture 3">
            <a:extLst>
              <a:ext uri="{FF2B5EF4-FFF2-40B4-BE49-F238E27FC236}">
                <a16:creationId xmlns:a16="http://schemas.microsoft.com/office/drawing/2014/main" id="{9CC97B44-0C9F-A4B8-6F78-3C7A29D7FCC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0" y="2030305"/>
            <a:ext cx="4488872" cy="4505577"/>
          </a:xfrm>
          <a:prstGeom prst="rect">
            <a:avLst/>
          </a:prstGeom>
        </p:spPr>
      </p:pic>
      <p:sp>
        <p:nvSpPr>
          <p:cNvPr id="5" name="TextBox 4">
            <a:extLst>
              <a:ext uri="{FF2B5EF4-FFF2-40B4-BE49-F238E27FC236}">
                <a16:creationId xmlns:a16="http://schemas.microsoft.com/office/drawing/2014/main" id="{2EAE1CC7-6B24-8E10-B5B3-A5BBC68FD452}"/>
              </a:ext>
            </a:extLst>
          </p:cNvPr>
          <p:cNvSpPr txBox="1"/>
          <p:nvPr/>
        </p:nvSpPr>
        <p:spPr>
          <a:xfrm>
            <a:off x="387235" y="1405143"/>
            <a:ext cx="4527665" cy="400110"/>
          </a:xfrm>
          <a:prstGeom prst="rect">
            <a:avLst/>
          </a:prstGeom>
          <a:noFill/>
        </p:spPr>
        <p:txBody>
          <a:bodyPr wrap="square" rtlCol="0">
            <a:spAutoFit/>
          </a:bodyPr>
          <a:lstStyle/>
          <a:p>
            <a:r>
              <a:rPr lang="en-US" sz="2000" b="1" dirty="0">
                <a:solidFill>
                  <a:schemeClr val="tx2"/>
                </a:solidFill>
              </a:rPr>
              <a:t>Description </a:t>
            </a:r>
            <a:r>
              <a:rPr lang="en-US" sz="2000" dirty="0">
                <a:solidFill>
                  <a:srgbClr val="002060"/>
                </a:solidFill>
              </a:rPr>
              <a:t>desc coffee_snacks;</a:t>
            </a:r>
            <a:endParaRPr lang="en-IN" sz="2000" dirty="0">
              <a:solidFill>
                <a:srgbClr val="002060"/>
              </a:solidFill>
            </a:endParaRPr>
          </a:p>
        </p:txBody>
      </p:sp>
      <p:sp>
        <p:nvSpPr>
          <p:cNvPr id="8" name="TextBox 7">
            <a:extLst>
              <a:ext uri="{FF2B5EF4-FFF2-40B4-BE49-F238E27FC236}">
                <a16:creationId xmlns:a16="http://schemas.microsoft.com/office/drawing/2014/main" id="{E1DABA38-3580-3710-7294-BA71DEA99F3B}"/>
              </a:ext>
            </a:extLst>
          </p:cNvPr>
          <p:cNvSpPr txBox="1"/>
          <p:nvPr/>
        </p:nvSpPr>
        <p:spPr>
          <a:xfrm>
            <a:off x="6044045" y="1362694"/>
            <a:ext cx="4804064" cy="400110"/>
          </a:xfrm>
          <a:prstGeom prst="rect">
            <a:avLst/>
          </a:prstGeom>
          <a:noFill/>
        </p:spPr>
        <p:txBody>
          <a:bodyPr wrap="square" rtlCol="0">
            <a:spAutoFit/>
          </a:bodyPr>
          <a:lstStyle/>
          <a:p>
            <a:r>
              <a:rPr lang="en-US" sz="2000" b="1" dirty="0">
                <a:solidFill>
                  <a:schemeClr val="tx2"/>
                </a:solidFill>
              </a:rPr>
              <a:t>Contents </a:t>
            </a:r>
            <a:r>
              <a:rPr lang="en-US" sz="2000" dirty="0">
                <a:solidFill>
                  <a:srgbClr val="002060"/>
                </a:solidFill>
              </a:rPr>
              <a:t>select * from coffee_snacks;</a:t>
            </a:r>
            <a:endParaRPr lang="en-IN" sz="2000" b="1" dirty="0">
              <a:solidFill>
                <a:schemeClr val="tx2"/>
              </a:solidFill>
            </a:endParaRPr>
          </a:p>
        </p:txBody>
      </p:sp>
    </p:spTree>
    <p:extLst>
      <p:ext uri="{BB962C8B-B14F-4D97-AF65-F5344CB8AC3E}">
        <p14:creationId xmlns:p14="http://schemas.microsoft.com/office/powerpoint/2010/main" val="2746483177"/>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567DF9-F914-3420-A484-19B04B28C013}"/>
              </a:ext>
            </a:extLst>
          </p:cNvPr>
          <p:cNvSpPr>
            <a:spLocks noGrp="1"/>
          </p:cNvSpPr>
          <p:nvPr>
            <p:ph type="title"/>
          </p:nvPr>
        </p:nvSpPr>
        <p:spPr>
          <a:xfrm>
            <a:off x="524117" y="74815"/>
            <a:ext cx="9692640" cy="694113"/>
          </a:xfrm>
        </p:spPr>
        <p:txBody>
          <a:bodyPr>
            <a:normAutofit fontScale="90000"/>
          </a:bodyPr>
          <a:lstStyle/>
          <a:p>
            <a:pPr algn="ctr"/>
            <a:r>
              <a:rPr lang="en-US" dirty="0">
                <a:solidFill>
                  <a:schemeClr val="tx2">
                    <a:lumMod val="75000"/>
                  </a:schemeClr>
                </a:solidFill>
              </a:rPr>
              <a:t>Orders table</a:t>
            </a:r>
            <a:endParaRPr lang="en-IN" dirty="0">
              <a:solidFill>
                <a:schemeClr val="tx2">
                  <a:lumMod val="75000"/>
                </a:schemeClr>
              </a:solidFill>
            </a:endParaRPr>
          </a:p>
        </p:txBody>
      </p:sp>
      <p:sp>
        <p:nvSpPr>
          <p:cNvPr id="5" name="TextBox 4">
            <a:extLst>
              <a:ext uri="{FF2B5EF4-FFF2-40B4-BE49-F238E27FC236}">
                <a16:creationId xmlns:a16="http://schemas.microsoft.com/office/drawing/2014/main" id="{917CE6DD-193C-BE4A-A285-BD817528EA13}"/>
              </a:ext>
            </a:extLst>
          </p:cNvPr>
          <p:cNvSpPr txBox="1"/>
          <p:nvPr/>
        </p:nvSpPr>
        <p:spPr>
          <a:xfrm>
            <a:off x="171853" y="831274"/>
            <a:ext cx="10707428" cy="369332"/>
          </a:xfrm>
          <a:prstGeom prst="rect">
            <a:avLst/>
          </a:prstGeom>
          <a:noFill/>
        </p:spPr>
        <p:txBody>
          <a:bodyPr wrap="square" rtlCol="0">
            <a:spAutoFit/>
          </a:bodyPr>
          <a:lstStyle/>
          <a:p>
            <a:r>
              <a:rPr lang="en-US" b="1" dirty="0">
                <a:solidFill>
                  <a:srgbClr val="002060"/>
                </a:solidFill>
              </a:rPr>
              <a:t>The table shows details of orders placed like </a:t>
            </a:r>
            <a:r>
              <a:rPr lang="en-US" b="1" dirty="0" err="1">
                <a:solidFill>
                  <a:srgbClr val="002060"/>
                </a:solidFill>
              </a:rPr>
              <a:t>orderId</a:t>
            </a:r>
            <a:r>
              <a:rPr lang="en-US" b="1" dirty="0">
                <a:solidFill>
                  <a:srgbClr val="002060"/>
                </a:solidFill>
              </a:rPr>
              <a:t>, quantity and total amount.</a:t>
            </a:r>
            <a:endParaRPr lang="en-US" dirty="0"/>
          </a:p>
        </p:txBody>
      </p:sp>
      <p:sp>
        <p:nvSpPr>
          <p:cNvPr id="3" name="TextBox 2">
            <a:extLst>
              <a:ext uri="{FF2B5EF4-FFF2-40B4-BE49-F238E27FC236}">
                <a16:creationId xmlns:a16="http://schemas.microsoft.com/office/drawing/2014/main" id="{00C25FAF-AAB9-8D1E-0296-84BEAD386753}"/>
              </a:ext>
            </a:extLst>
          </p:cNvPr>
          <p:cNvSpPr txBox="1"/>
          <p:nvPr/>
        </p:nvSpPr>
        <p:spPr>
          <a:xfrm>
            <a:off x="387235" y="1405143"/>
            <a:ext cx="4527665" cy="400110"/>
          </a:xfrm>
          <a:prstGeom prst="rect">
            <a:avLst/>
          </a:prstGeom>
          <a:noFill/>
        </p:spPr>
        <p:txBody>
          <a:bodyPr wrap="square" rtlCol="0">
            <a:spAutoFit/>
          </a:bodyPr>
          <a:lstStyle/>
          <a:p>
            <a:r>
              <a:rPr lang="en-US" sz="2000" b="1" dirty="0">
                <a:solidFill>
                  <a:schemeClr val="tx2"/>
                </a:solidFill>
              </a:rPr>
              <a:t>Description </a:t>
            </a:r>
            <a:r>
              <a:rPr lang="en-US" sz="2000" dirty="0">
                <a:solidFill>
                  <a:srgbClr val="002060"/>
                </a:solidFill>
              </a:rPr>
              <a:t>desc orders;</a:t>
            </a:r>
            <a:endParaRPr lang="en-IN" sz="2000" dirty="0">
              <a:solidFill>
                <a:srgbClr val="002060"/>
              </a:solidFill>
            </a:endParaRPr>
          </a:p>
        </p:txBody>
      </p:sp>
      <p:pic>
        <p:nvPicPr>
          <p:cNvPr id="7" name="Picture 6">
            <a:extLst>
              <a:ext uri="{FF2B5EF4-FFF2-40B4-BE49-F238E27FC236}">
                <a16:creationId xmlns:a16="http://schemas.microsoft.com/office/drawing/2014/main" id="{38B1718B-D38D-3CCD-B9ED-41FECEE2773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92062" y="2028659"/>
            <a:ext cx="5687219" cy="4579960"/>
          </a:xfrm>
          <a:prstGeom prst="rect">
            <a:avLst/>
          </a:prstGeom>
        </p:spPr>
      </p:pic>
      <p:sp>
        <p:nvSpPr>
          <p:cNvPr id="8" name="TextBox 7">
            <a:extLst>
              <a:ext uri="{FF2B5EF4-FFF2-40B4-BE49-F238E27FC236}">
                <a16:creationId xmlns:a16="http://schemas.microsoft.com/office/drawing/2014/main" id="{601EF673-CFE6-E0F2-BBC4-513C46D6FBC3}"/>
              </a:ext>
            </a:extLst>
          </p:cNvPr>
          <p:cNvSpPr txBox="1"/>
          <p:nvPr/>
        </p:nvSpPr>
        <p:spPr>
          <a:xfrm>
            <a:off x="5119254" y="1396926"/>
            <a:ext cx="4804064" cy="400110"/>
          </a:xfrm>
          <a:prstGeom prst="rect">
            <a:avLst/>
          </a:prstGeom>
          <a:noFill/>
        </p:spPr>
        <p:txBody>
          <a:bodyPr wrap="square" rtlCol="0">
            <a:spAutoFit/>
          </a:bodyPr>
          <a:lstStyle/>
          <a:p>
            <a:r>
              <a:rPr lang="en-US" sz="2000" b="1" dirty="0">
                <a:solidFill>
                  <a:schemeClr val="tx2"/>
                </a:solidFill>
              </a:rPr>
              <a:t>Contents </a:t>
            </a:r>
            <a:r>
              <a:rPr lang="en-US" sz="2000" dirty="0">
                <a:solidFill>
                  <a:srgbClr val="002060"/>
                </a:solidFill>
              </a:rPr>
              <a:t>select * from orders;</a:t>
            </a:r>
            <a:endParaRPr lang="en-IN" sz="2000" b="1" dirty="0">
              <a:solidFill>
                <a:schemeClr val="tx2"/>
              </a:solidFill>
            </a:endParaRPr>
          </a:p>
        </p:txBody>
      </p:sp>
      <p:pic>
        <p:nvPicPr>
          <p:cNvPr id="9" name="Picture 8">
            <a:extLst>
              <a:ext uri="{FF2B5EF4-FFF2-40B4-BE49-F238E27FC236}">
                <a16:creationId xmlns:a16="http://schemas.microsoft.com/office/drawing/2014/main" id="{0CFFF07E-1825-08D3-C456-84E3F9F2A5D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4117" y="2308583"/>
            <a:ext cx="4390784" cy="3144274"/>
          </a:xfrm>
          <a:prstGeom prst="rect">
            <a:avLst/>
          </a:prstGeom>
        </p:spPr>
      </p:pic>
    </p:spTree>
    <p:extLst>
      <p:ext uri="{BB962C8B-B14F-4D97-AF65-F5344CB8AC3E}">
        <p14:creationId xmlns:p14="http://schemas.microsoft.com/office/powerpoint/2010/main" val="1459354699"/>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0E11F-22DC-4AF8-7331-2BE6B94D6941}"/>
              </a:ext>
            </a:extLst>
          </p:cNvPr>
          <p:cNvSpPr>
            <a:spLocks noGrp="1"/>
          </p:cNvSpPr>
          <p:nvPr>
            <p:ph type="title"/>
          </p:nvPr>
        </p:nvSpPr>
        <p:spPr>
          <a:xfrm>
            <a:off x="1002098" y="0"/>
            <a:ext cx="9692640" cy="808413"/>
          </a:xfrm>
        </p:spPr>
        <p:txBody>
          <a:bodyPr/>
          <a:lstStyle/>
          <a:p>
            <a:pPr algn="ctr"/>
            <a:r>
              <a:rPr lang="en-US" dirty="0">
                <a:solidFill>
                  <a:schemeClr val="tx2"/>
                </a:solidFill>
              </a:rPr>
              <a:t>Customer table</a:t>
            </a:r>
            <a:endParaRPr lang="en-IN" dirty="0">
              <a:solidFill>
                <a:schemeClr val="tx2"/>
              </a:solidFill>
            </a:endParaRPr>
          </a:p>
        </p:txBody>
      </p:sp>
      <p:pic>
        <p:nvPicPr>
          <p:cNvPr id="4" name="Picture 3">
            <a:extLst>
              <a:ext uri="{FF2B5EF4-FFF2-40B4-BE49-F238E27FC236}">
                <a16:creationId xmlns:a16="http://schemas.microsoft.com/office/drawing/2014/main" id="{903317FD-2167-DAA6-B9B9-E95089F2E0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5990" y="1986158"/>
            <a:ext cx="5189238" cy="3274570"/>
          </a:xfrm>
          <a:prstGeom prst="rect">
            <a:avLst/>
          </a:prstGeom>
        </p:spPr>
      </p:pic>
      <p:sp>
        <p:nvSpPr>
          <p:cNvPr id="5" name="TextBox 4">
            <a:extLst>
              <a:ext uri="{FF2B5EF4-FFF2-40B4-BE49-F238E27FC236}">
                <a16:creationId xmlns:a16="http://schemas.microsoft.com/office/drawing/2014/main" id="{2356CF67-0D1F-D4DC-3750-413ADB7BB218}"/>
              </a:ext>
            </a:extLst>
          </p:cNvPr>
          <p:cNvSpPr txBox="1"/>
          <p:nvPr/>
        </p:nvSpPr>
        <p:spPr>
          <a:xfrm>
            <a:off x="265990" y="838472"/>
            <a:ext cx="10021011" cy="369332"/>
          </a:xfrm>
          <a:prstGeom prst="rect">
            <a:avLst/>
          </a:prstGeom>
          <a:noFill/>
        </p:spPr>
        <p:txBody>
          <a:bodyPr wrap="square" rtlCol="0">
            <a:spAutoFit/>
          </a:bodyPr>
          <a:lstStyle/>
          <a:p>
            <a:r>
              <a:rPr lang="en-US" b="1" dirty="0">
                <a:solidFill>
                  <a:srgbClr val="002060"/>
                </a:solidFill>
              </a:rPr>
              <a:t>The table shows details of customers like customerId, name and loyalty points.</a:t>
            </a:r>
            <a:endParaRPr lang="en-US" dirty="0"/>
          </a:p>
        </p:txBody>
      </p:sp>
      <p:pic>
        <p:nvPicPr>
          <p:cNvPr id="6" name="Picture 5">
            <a:extLst>
              <a:ext uri="{FF2B5EF4-FFF2-40B4-BE49-F238E27FC236}">
                <a16:creationId xmlns:a16="http://schemas.microsoft.com/office/drawing/2014/main" id="{90750F9F-3F10-F176-B2D0-703848AC09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85164" y="1986158"/>
            <a:ext cx="4709574" cy="4691040"/>
          </a:xfrm>
          <a:prstGeom prst="rect">
            <a:avLst/>
          </a:prstGeom>
        </p:spPr>
      </p:pic>
      <p:sp>
        <p:nvSpPr>
          <p:cNvPr id="7" name="TextBox 6">
            <a:extLst>
              <a:ext uri="{FF2B5EF4-FFF2-40B4-BE49-F238E27FC236}">
                <a16:creationId xmlns:a16="http://schemas.microsoft.com/office/drawing/2014/main" id="{E3A3023D-BEC4-19E6-111F-2B8686B93582}"/>
              </a:ext>
            </a:extLst>
          </p:cNvPr>
          <p:cNvSpPr txBox="1"/>
          <p:nvPr/>
        </p:nvSpPr>
        <p:spPr>
          <a:xfrm>
            <a:off x="387235" y="1405143"/>
            <a:ext cx="4527665" cy="400110"/>
          </a:xfrm>
          <a:prstGeom prst="rect">
            <a:avLst/>
          </a:prstGeom>
          <a:noFill/>
        </p:spPr>
        <p:txBody>
          <a:bodyPr wrap="square" rtlCol="0">
            <a:spAutoFit/>
          </a:bodyPr>
          <a:lstStyle/>
          <a:p>
            <a:r>
              <a:rPr lang="en-US" sz="2000" b="1" dirty="0">
                <a:solidFill>
                  <a:schemeClr val="tx2"/>
                </a:solidFill>
              </a:rPr>
              <a:t>Description </a:t>
            </a:r>
            <a:r>
              <a:rPr lang="en-US" sz="2000" dirty="0">
                <a:solidFill>
                  <a:srgbClr val="002060"/>
                </a:solidFill>
              </a:rPr>
              <a:t>desc customer;</a:t>
            </a:r>
            <a:endParaRPr lang="en-IN" sz="2000" dirty="0">
              <a:solidFill>
                <a:srgbClr val="002060"/>
              </a:solidFill>
            </a:endParaRPr>
          </a:p>
        </p:txBody>
      </p:sp>
      <p:sp>
        <p:nvSpPr>
          <p:cNvPr id="9" name="TextBox 8">
            <a:extLst>
              <a:ext uri="{FF2B5EF4-FFF2-40B4-BE49-F238E27FC236}">
                <a16:creationId xmlns:a16="http://schemas.microsoft.com/office/drawing/2014/main" id="{8D6B273F-17AE-A952-2F90-125276A58D74}"/>
              </a:ext>
            </a:extLst>
          </p:cNvPr>
          <p:cNvSpPr txBox="1"/>
          <p:nvPr/>
        </p:nvSpPr>
        <p:spPr>
          <a:xfrm>
            <a:off x="5890674" y="1407513"/>
            <a:ext cx="4804064" cy="400110"/>
          </a:xfrm>
          <a:prstGeom prst="rect">
            <a:avLst/>
          </a:prstGeom>
          <a:noFill/>
        </p:spPr>
        <p:txBody>
          <a:bodyPr wrap="square" rtlCol="0">
            <a:spAutoFit/>
          </a:bodyPr>
          <a:lstStyle/>
          <a:p>
            <a:r>
              <a:rPr lang="en-US" sz="2000" b="1" dirty="0">
                <a:solidFill>
                  <a:schemeClr val="tx2"/>
                </a:solidFill>
              </a:rPr>
              <a:t>Contents </a:t>
            </a:r>
            <a:r>
              <a:rPr lang="en-US" sz="2000" dirty="0">
                <a:solidFill>
                  <a:srgbClr val="002060"/>
                </a:solidFill>
              </a:rPr>
              <a:t>select * from customer;</a:t>
            </a:r>
            <a:endParaRPr lang="en-IN" sz="2000" b="1" dirty="0">
              <a:solidFill>
                <a:schemeClr val="tx2"/>
              </a:solidFill>
            </a:endParaRPr>
          </a:p>
        </p:txBody>
      </p:sp>
    </p:spTree>
    <p:extLst>
      <p:ext uri="{BB962C8B-B14F-4D97-AF65-F5344CB8AC3E}">
        <p14:creationId xmlns:p14="http://schemas.microsoft.com/office/powerpoint/2010/main" val="26854039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76615E-39DB-57F1-8D92-E589A82D7924}"/>
              </a:ext>
            </a:extLst>
          </p:cNvPr>
          <p:cNvSpPr>
            <a:spLocks noGrp="1"/>
          </p:cNvSpPr>
          <p:nvPr>
            <p:ph type="title"/>
          </p:nvPr>
        </p:nvSpPr>
        <p:spPr>
          <a:xfrm>
            <a:off x="3121845" y="91825"/>
            <a:ext cx="5097364" cy="787313"/>
          </a:xfrm>
        </p:spPr>
        <p:txBody>
          <a:bodyPr/>
          <a:lstStyle/>
          <a:p>
            <a:r>
              <a:rPr lang="en-US" dirty="0">
                <a:solidFill>
                  <a:schemeClr val="tx2"/>
                </a:solidFill>
              </a:rPr>
              <a:t>Employees table</a:t>
            </a:r>
            <a:endParaRPr lang="en-IN" dirty="0">
              <a:solidFill>
                <a:schemeClr val="tx2"/>
              </a:solidFill>
            </a:endParaRPr>
          </a:p>
        </p:txBody>
      </p:sp>
      <p:pic>
        <p:nvPicPr>
          <p:cNvPr id="4" name="Picture 3">
            <a:extLst>
              <a:ext uri="{FF2B5EF4-FFF2-40B4-BE49-F238E27FC236}">
                <a16:creationId xmlns:a16="http://schemas.microsoft.com/office/drawing/2014/main" id="{96F52B8D-4A6D-4D90-AC80-CBB58CC7C6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9773" y="1947295"/>
            <a:ext cx="4790210" cy="3809269"/>
          </a:xfrm>
          <a:prstGeom prst="rect">
            <a:avLst/>
          </a:prstGeom>
        </p:spPr>
      </p:pic>
      <p:sp>
        <p:nvSpPr>
          <p:cNvPr id="5" name="TextBox 4">
            <a:extLst>
              <a:ext uri="{FF2B5EF4-FFF2-40B4-BE49-F238E27FC236}">
                <a16:creationId xmlns:a16="http://schemas.microsoft.com/office/drawing/2014/main" id="{F0814F07-692D-F120-A02E-E55FA577A6F2}"/>
              </a:ext>
            </a:extLst>
          </p:cNvPr>
          <p:cNvSpPr txBox="1"/>
          <p:nvPr/>
        </p:nvSpPr>
        <p:spPr>
          <a:xfrm>
            <a:off x="156764" y="879138"/>
            <a:ext cx="10265318" cy="369332"/>
          </a:xfrm>
          <a:prstGeom prst="rect">
            <a:avLst/>
          </a:prstGeom>
          <a:noFill/>
        </p:spPr>
        <p:txBody>
          <a:bodyPr wrap="square" rtlCol="0">
            <a:spAutoFit/>
          </a:bodyPr>
          <a:lstStyle/>
          <a:p>
            <a:r>
              <a:rPr lang="en-US" b="1" dirty="0">
                <a:solidFill>
                  <a:srgbClr val="002060"/>
                </a:solidFill>
              </a:rPr>
              <a:t>The table shows details of employees like id, name, role and shift details.</a:t>
            </a:r>
            <a:endParaRPr lang="en-US" dirty="0"/>
          </a:p>
        </p:txBody>
      </p:sp>
      <p:sp>
        <p:nvSpPr>
          <p:cNvPr id="7" name="TextBox 6">
            <a:extLst>
              <a:ext uri="{FF2B5EF4-FFF2-40B4-BE49-F238E27FC236}">
                <a16:creationId xmlns:a16="http://schemas.microsoft.com/office/drawing/2014/main" id="{BD66119D-4AD0-C9FA-AB5E-FADEBD890CCB}"/>
              </a:ext>
            </a:extLst>
          </p:cNvPr>
          <p:cNvSpPr txBox="1"/>
          <p:nvPr/>
        </p:nvSpPr>
        <p:spPr>
          <a:xfrm>
            <a:off x="387235" y="1405143"/>
            <a:ext cx="4527665" cy="400110"/>
          </a:xfrm>
          <a:prstGeom prst="rect">
            <a:avLst/>
          </a:prstGeom>
          <a:noFill/>
        </p:spPr>
        <p:txBody>
          <a:bodyPr wrap="square" rtlCol="0">
            <a:spAutoFit/>
          </a:bodyPr>
          <a:lstStyle/>
          <a:p>
            <a:r>
              <a:rPr lang="en-US" sz="2000" b="1" dirty="0">
                <a:solidFill>
                  <a:schemeClr val="tx2"/>
                </a:solidFill>
              </a:rPr>
              <a:t>Description </a:t>
            </a:r>
            <a:r>
              <a:rPr lang="en-US" sz="2000" dirty="0">
                <a:solidFill>
                  <a:srgbClr val="002060"/>
                </a:solidFill>
              </a:rPr>
              <a:t>desc employees;</a:t>
            </a:r>
            <a:endParaRPr lang="en-IN" sz="2000" dirty="0">
              <a:solidFill>
                <a:srgbClr val="002060"/>
              </a:solidFill>
            </a:endParaRPr>
          </a:p>
        </p:txBody>
      </p:sp>
      <p:sp>
        <p:nvSpPr>
          <p:cNvPr id="9" name="TextBox 8">
            <a:extLst>
              <a:ext uri="{FF2B5EF4-FFF2-40B4-BE49-F238E27FC236}">
                <a16:creationId xmlns:a16="http://schemas.microsoft.com/office/drawing/2014/main" id="{97BED5A7-8623-5550-C262-8518890E2DCC}"/>
              </a:ext>
            </a:extLst>
          </p:cNvPr>
          <p:cNvSpPr txBox="1"/>
          <p:nvPr/>
        </p:nvSpPr>
        <p:spPr>
          <a:xfrm>
            <a:off x="5618018" y="1405143"/>
            <a:ext cx="4804064" cy="400110"/>
          </a:xfrm>
          <a:prstGeom prst="rect">
            <a:avLst/>
          </a:prstGeom>
          <a:noFill/>
        </p:spPr>
        <p:txBody>
          <a:bodyPr wrap="square" rtlCol="0">
            <a:spAutoFit/>
          </a:bodyPr>
          <a:lstStyle/>
          <a:p>
            <a:r>
              <a:rPr lang="en-US" sz="2000" b="1" dirty="0">
                <a:solidFill>
                  <a:schemeClr val="tx2"/>
                </a:solidFill>
              </a:rPr>
              <a:t>Contents </a:t>
            </a:r>
            <a:r>
              <a:rPr lang="en-US" sz="2000" dirty="0">
                <a:solidFill>
                  <a:srgbClr val="002060"/>
                </a:solidFill>
              </a:rPr>
              <a:t>select * from employees;</a:t>
            </a:r>
            <a:endParaRPr lang="en-IN" sz="2000" b="1" dirty="0">
              <a:solidFill>
                <a:schemeClr val="tx2"/>
              </a:solidFill>
            </a:endParaRPr>
          </a:p>
        </p:txBody>
      </p:sp>
      <p:pic>
        <p:nvPicPr>
          <p:cNvPr id="8" name="Picture 7">
            <a:extLst>
              <a:ext uri="{FF2B5EF4-FFF2-40B4-BE49-F238E27FC236}">
                <a16:creationId xmlns:a16="http://schemas.microsoft.com/office/drawing/2014/main" id="{38E79FA0-E61A-61E5-F5B0-8E2B4503F65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67129" y="1805253"/>
            <a:ext cx="5704159" cy="4761802"/>
          </a:xfrm>
          <a:prstGeom prst="rect">
            <a:avLst/>
          </a:prstGeom>
        </p:spPr>
      </p:pic>
    </p:spTree>
    <p:extLst>
      <p:ext uri="{BB962C8B-B14F-4D97-AF65-F5344CB8AC3E}">
        <p14:creationId xmlns:p14="http://schemas.microsoft.com/office/powerpoint/2010/main" val="751273261"/>
      </p:ext>
    </p:extLst>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3235B68D-11DF-62DE-DD0C-8D4B836D5628}"/>
              </a:ext>
            </a:extLst>
          </p:cNvPr>
          <p:cNvSpPr>
            <a:spLocks noGrp="1"/>
          </p:cNvSpPr>
          <p:nvPr>
            <p:ph type="title"/>
          </p:nvPr>
        </p:nvSpPr>
        <p:spPr>
          <a:xfrm>
            <a:off x="3516699" y="2423161"/>
            <a:ext cx="3860847" cy="1325562"/>
          </a:xfrm>
        </p:spPr>
        <p:txBody>
          <a:bodyPr>
            <a:noAutofit/>
          </a:bodyPr>
          <a:lstStyle/>
          <a:p>
            <a:r>
              <a:rPr lang="en-US" sz="4800" dirty="0">
                <a:solidFill>
                  <a:schemeClr val="tx2"/>
                </a:solidFill>
                <a:latin typeface="Bodoni MT Black" panose="02070A03080606020203" pitchFamily="18" charset="0"/>
              </a:rPr>
              <a:t>Sub-Queries</a:t>
            </a:r>
            <a:endParaRPr lang="en-IN" sz="4800" dirty="0"/>
          </a:p>
        </p:txBody>
      </p:sp>
    </p:spTree>
    <p:extLst>
      <p:ext uri="{BB962C8B-B14F-4D97-AF65-F5344CB8AC3E}">
        <p14:creationId xmlns:p14="http://schemas.microsoft.com/office/powerpoint/2010/main" val="2226455192"/>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B2EFB66-E739-AF9D-6C6E-B3D1CDA10B74}"/>
              </a:ext>
            </a:extLst>
          </p:cNvPr>
          <p:cNvSpPr txBox="1"/>
          <p:nvPr/>
        </p:nvSpPr>
        <p:spPr>
          <a:xfrm>
            <a:off x="509155" y="561109"/>
            <a:ext cx="10754590" cy="523220"/>
          </a:xfrm>
          <a:prstGeom prst="rect">
            <a:avLst/>
          </a:prstGeom>
          <a:noFill/>
        </p:spPr>
        <p:txBody>
          <a:bodyPr wrap="square" rtlCol="0">
            <a:spAutoFit/>
          </a:bodyPr>
          <a:lstStyle/>
          <a:p>
            <a:r>
              <a:rPr lang="en-US" sz="2800" b="1" dirty="0">
                <a:solidFill>
                  <a:schemeClr val="tx2"/>
                </a:solidFill>
              </a:rPr>
              <a:t>Display top 3 selling items with their price.</a:t>
            </a:r>
            <a:endParaRPr lang="en-IN" sz="2800" b="1" dirty="0">
              <a:solidFill>
                <a:schemeClr val="tx2"/>
              </a:solidFill>
            </a:endParaRPr>
          </a:p>
        </p:txBody>
      </p:sp>
      <p:pic>
        <p:nvPicPr>
          <p:cNvPr id="5" name="Picture 4">
            <a:extLst>
              <a:ext uri="{FF2B5EF4-FFF2-40B4-BE49-F238E27FC236}">
                <a16:creationId xmlns:a16="http://schemas.microsoft.com/office/drawing/2014/main" id="{6952224B-6C3C-C319-0DEA-F421BC0904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9154" y="1545556"/>
            <a:ext cx="3397827" cy="2527680"/>
          </a:xfrm>
          <a:prstGeom prst="rect">
            <a:avLst/>
          </a:prstGeom>
        </p:spPr>
      </p:pic>
      <p:sp>
        <p:nvSpPr>
          <p:cNvPr id="6" name="TextBox 5">
            <a:extLst>
              <a:ext uri="{FF2B5EF4-FFF2-40B4-BE49-F238E27FC236}">
                <a16:creationId xmlns:a16="http://schemas.microsoft.com/office/drawing/2014/main" id="{7C31AACB-3B76-8FE2-7EA6-B3F9AE5A6C71}"/>
              </a:ext>
            </a:extLst>
          </p:cNvPr>
          <p:cNvSpPr txBox="1"/>
          <p:nvPr/>
        </p:nvSpPr>
        <p:spPr>
          <a:xfrm>
            <a:off x="4738255" y="1756064"/>
            <a:ext cx="6203372" cy="2031325"/>
          </a:xfrm>
          <a:prstGeom prst="rect">
            <a:avLst/>
          </a:prstGeom>
          <a:noFill/>
        </p:spPr>
        <p:txBody>
          <a:bodyPr wrap="square" rtlCol="0">
            <a:spAutoFit/>
          </a:bodyPr>
          <a:lstStyle/>
          <a:p>
            <a:r>
              <a:rPr lang="en-US" b="1" dirty="0">
                <a:solidFill>
                  <a:schemeClr val="tx1">
                    <a:lumMod val="95000"/>
                    <a:lumOff val="5000"/>
                  </a:schemeClr>
                </a:solidFill>
              </a:rPr>
              <a:t>Syntax: </a:t>
            </a:r>
          </a:p>
          <a:p>
            <a:endParaRPr lang="en-US" b="1" dirty="0">
              <a:solidFill>
                <a:schemeClr val="tx1">
                  <a:lumMod val="95000"/>
                  <a:lumOff val="5000"/>
                </a:schemeClr>
              </a:solidFill>
            </a:endParaRPr>
          </a:p>
          <a:p>
            <a:r>
              <a:rPr lang="en-US" b="1" dirty="0">
                <a:solidFill>
                  <a:srgbClr val="002060"/>
                </a:solidFill>
              </a:rPr>
              <a:t>select name, price from coffee_snacks</a:t>
            </a:r>
          </a:p>
          <a:p>
            <a:r>
              <a:rPr lang="en-US" b="1" dirty="0">
                <a:solidFill>
                  <a:srgbClr val="002060"/>
                </a:solidFill>
              </a:rPr>
              <a:t> where item_id in</a:t>
            </a:r>
          </a:p>
          <a:p>
            <a:r>
              <a:rPr lang="en-US" b="1" dirty="0">
                <a:solidFill>
                  <a:srgbClr val="002060"/>
                </a:solidFill>
              </a:rPr>
              <a:t>(select item_id from orders group by item_id </a:t>
            </a:r>
          </a:p>
          <a:p>
            <a:r>
              <a:rPr lang="en-US" b="1" dirty="0">
                <a:solidFill>
                  <a:srgbClr val="002060"/>
                </a:solidFill>
              </a:rPr>
              <a:t>order by sum(quantity)) </a:t>
            </a:r>
          </a:p>
          <a:p>
            <a:r>
              <a:rPr lang="en-US" b="1" dirty="0">
                <a:solidFill>
                  <a:srgbClr val="002060"/>
                </a:solidFill>
              </a:rPr>
              <a:t>limit 3;</a:t>
            </a:r>
            <a:endParaRPr lang="en-IN" b="1" dirty="0">
              <a:solidFill>
                <a:srgbClr val="002060"/>
              </a:solidFill>
            </a:endParaRPr>
          </a:p>
        </p:txBody>
      </p:sp>
    </p:spTree>
    <p:extLst>
      <p:ext uri="{BB962C8B-B14F-4D97-AF65-F5344CB8AC3E}">
        <p14:creationId xmlns:p14="http://schemas.microsoft.com/office/powerpoint/2010/main" val="2691784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928B091-10DB-2EB5-B271-838F4593C70F}"/>
              </a:ext>
            </a:extLst>
          </p:cNvPr>
          <p:cNvSpPr txBox="1"/>
          <p:nvPr/>
        </p:nvSpPr>
        <p:spPr>
          <a:xfrm>
            <a:off x="374073" y="498763"/>
            <a:ext cx="10754590" cy="954107"/>
          </a:xfrm>
          <a:prstGeom prst="rect">
            <a:avLst/>
          </a:prstGeom>
          <a:noFill/>
        </p:spPr>
        <p:txBody>
          <a:bodyPr wrap="square" rtlCol="0">
            <a:spAutoFit/>
          </a:bodyPr>
          <a:lstStyle/>
          <a:p>
            <a:r>
              <a:rPr lang="en-US" sz="2800" b="1" dirty="0">
                <a:solidFill>
                  <a:schemeClr val="tx2"/>
                </a:solidFill>
              </a:rPr>
              <a:t>Display the names of the employees who worked more than the average shift time.</a:t>
            </a:r>
            <a:endParaRPr lang="en-IN" sz="2800" b="1" dirty="0">
              <a:solidFill>
                <a:schemeClr val="tx2"/>
              </a:solidFill>
            </a:endParaRPr>
          </a:p>
        </p:txBody>
      </p:sp>
      <p:pic>
        <p:nvPicPr>
          <p:cNvPr id="4" name="Picture 3">
            <a:extLst>
              <a:ext uri="{FF2B5EF4-FFF2-40B4-BE49-F238E27FC236}">
                <a16:creationId xmlns:a16="http://schemas.microsoft.com/office/drawing/2014/main" id="{F2DE48A1-0B4D-6867-49D4-B545F1CAB5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9156" y="1849581"/>
            <a:ext cx="4125190" cy="3377045"/>
          </a:xfrm>
          <a:prstGeom prst="rect">
            <a:avLst/>
          </a:prstGeom>
        </p:spPr>
      </p:pic>
      <p:sp>
        <p:nvSpPr>
          <p:cNvPr id="6" name="TextBox 5">
            <a:extLst>
              <a:ext uri="{FF2B5EF4-FFF2-40B4-BE49-F238E27FC236}">
                <a16:creationId xmlns:a16="http://schemas.microsoft.com/office/drawing/2014/main" id="{B87CBC69-7C39-C6E4-51BA-B6ED77A58680}"/>
              </a:ext>
            </a:extLst>
          </p:cNvPr>
          <p:cNvSpPr txBox="1"/>
          <p:nvPr/>
        </p:nvSpPr>
        <p:spPr>
          <a:xfrm>
            <a:off x="5174674" y="1849581"/>
            <a:ext cx="5953990" cy="2031325"/>
          </a:xfrm>
          <a:prstGeom prst="rect">
            <a:avLst/>
          </a:prstGeom>
          <a:noFill/>
        </p:spPr>
        <p:txBody>
          <a:bodyPr wrap="square" rtlCol="0">
            <a:spAutoFit/>
          </a:bodyPr>
          <a:lstStyle/>
          <a:p>
            <a:r>
              <a:rPr lang="en-US" b="1" dirty="0">
                <a:solidFill>
                  <a:schemeClr val="tx1">
                    <a:lumMod val="95000"/>
                    <a:lumOff val="5000"/>
                  </a:schemeClr>
                </a:solidFill>
              </a:rPr>
              <a:t>Syntax: </a:t>
            </a:r>
          </a:p>
          <a:p>
            <a:endParaRPr lang="en-US" b="1" dirty="0">
              <a:solidFill>
                <a:schemeClr val="tx1">
                  <a:lumMod val="95000"/>
                  <a:lumOff val="5000"/>
                </a:schemeClr>
              </a:solidFill>
            </a:endParaRPr>
          </a:p>
          <a:p>
            <a:r>
              <a:rPr lang="en-US" b="1" dirty="0">
                <a:solidFill>
                  <a:srgbClr val="002060"/>
                </a:solidFill>
              </a:rPr>
              <a:t>select EmployeeName, Role, ShiftStart, ShiftEnd </a:t>
            </a:r>
          </a:p>
          <a:p>
            <a:r>
              <a:rPr lang="en-US" b="1" dirty="0">
                <a:solidFill>
                  <a:srgbClr val="002060"/>
                </a:solidFill>
              </a:rPr>
              <a:t>from Employees</a:t>
            </a:r>
          </a:p>
          <a:p>
            <a:r>
              <a:rPr lang="en-US" b="1" dirty="0">
                <a:solidFill>
                  <a:srgbClr val="002060"/>
                </a:solidFill>
              </a:rPr>
              <a:t>where timediff(ShiftEnd, ShiftStart) &gt; </a:t>
            </a:r>
          </a:p>
          <a:p>
            <a:r>
              <a:rPr lang="en-US" b="1" dirty="0">
                <a:solidFill>
                  <a:srgbClr val="002060"/>
                </a:solidFill>
              </a:rPr>
              <a:t>(select avg(timediff(ShiftEnd, ShiftStart)) </a:t>
            </a:r>
          </a:p>
          <a:p>
            <a:r>
              <a:rPr lang="en-US" b="1" dirty="0">
                <a:solidFill>
                  <a:srgbClr val="002060"/>
                </a:solidFill>
              </a:rPr>
              <a:t>from Employees);</a:t>
            </a:r>
          </a:p>
        </p:txBody>
      </p:sp>
    </p:spTree>
    <p:extLst>
      <p:ext uri="{BB962C8B-B14F-4D97-AF65-F5344CB8AC3E}">
        <p14:creationId xmlns:p14="http://schemas.microsoft.com/office/powerpoint/2010/main" val="41579345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21854827-F9A4-985F-CB48-332DD3BB72EF}"/>
              </a:ext>
            </a:extLst>
          </p:cNvPr>
          <p:cNvSpPr txBox="1"/>
          <p:nvPr/>
        </p:nvSpPr>
        <p:spPr>
          <a:xfrm>
            <a:off x="5091547" y="1506683"/>
            <a:ext cx="5953990" cy="2031325"/>
          </a:xfrm>
          <a:prstGeom prst="rect">
            <a:avLst/>
          </a:prstGeom>
          <a:noFill/>
        </p:spPr>
        <p:txBody>
          <a:bodyPr wrap="square" rtlCol="0">
            <a:spAutoFit/>
          </a:bodyPr>
          <a:lstStyle/>
          <a:p>
            <a:r>
              <a:rPr lang="en-US" b="1" dirty="0">
                <a:solidFill>
                  <a:schemeClr val="tx1">
                    <a:lumMod val="95000"/>
                    <a:lumOff val="5000"/>
                  </a:schemeClr>
                </a:solidFill>
              </a:rPr>
              <a:t>Syntax: </a:t>
            </a:r>
          </a:p>
          <a:p>
            <a:endParaRPr lang="en-US" b="1" dirty="0">
              <a:solidFill>
                <a:schemeClr val="tx1">
                  <a:lumMod val="95000"/>
                  <a:lumOff val="5000"/>
                </a:schemeClr>
              </a:solidFill>
            </a:endParaRPr>
          </a:p>
          <a:p>
            <a:r>
              <a:rPr lang="en-US" b="1" dirty="0">
                <a:solidFill>
                  <a:srgbClr val="002060"/>
                </a:solidFill>
              </a:rPr>
              <a:t>select CustomerName from Customer </a:t>
            </a:r>
          </a:p>
          <a:p>
            <a:r>
              <a:rPr lang="en-US" b="1" dirty="0">
                <a:solidFill>
                  <a:srgbClr val="002060"/>
                </a:solidFill>
              </a:rPr>
              <a:t>where CustomerID not in    </a:t>
            </a:r>
          </a:p>
          <a:p>
            <a:r>
              <a:rPr lang="en-US" b="1" dirty="0">
                <a:solidFill>
                  <a:srgbClr val="002060"/>
                </a:solidFill>
              </a:rPr>
              <a:t>(select distinct CustomerID  from orders WHERE Item_ID in (select Item_ID from coffee_snacks where Category = 'Beverage'));</a:t>
            </a:r>
          </a:p>
        </p:txBody>
      </p:sp>
      <p:pic>
        <p:nvPicPr>
          <p:cNvPr id="9" name="Picture 8">
            <a:extLst>
              <a:ext uri="{FF2B5EF4-FFF2-40B4-BE49-F238E27FC236}">
                <a16:creationId xmlns:a16="http://schemas.microsoft.com/office/drawing/2014/main" id="{FFB85345-3C2E-6BF9-E022-16F52D1E9B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5202" y="1506684"/>
            <a:ext cx="3946798" cy="4862944"/>
          </a:xfrm>
          <a:prstGeom prst="rect">
            <a:avLst/>
          </a:prstGeom>
        </p:spPr>
      </p:pic>
      <p:sp>
        <p:nvSpPr>
          <p:cNvPr id="10" name="TextBox 9">
            <a:extLst>
              <a:ext uri="{FF2B5EF4-FFF2-40B4-BE49-F238E27FC236}">
                <a16:creationId xmlns:a16="http://schemas.microsoft.com/office/drawing/2014/main" id="{3372A763-89A9-7EEC-2141-08036CA84778}"/>
              </a:ext>
            </a:extLst>
          </p:cNvPr>
          <p:cNvSpPr txBox="1"/>
          <p:nvPr/>
        </p:nvSpPr>
        <p:spPr>
          <a:xfrm>
            <a:off x="519546" y="259773"/>
            <a:ext cx="10754590" cy="954107"/>
          </a:xfrm>
          <a:prstGeom prst="rect">
            <a:avLst/>
          </a:prstGeom>
          <a:noFill/>
        </p:spPr>
        <p:txBody>
          <a:bodyPr wrap="square" rtlCol="0">
            <a:spAutoFit/>
          </a:bodyPr>
          <a:lstStyle/>
          <a:p>
            <a:r>
              <a:rPr lang="en-US" sz="2800" b="1" dirty="0">
                <a:solidFill>
                  <a:schemeClr val="tx2"/>
                </a:solidFill>
              </a:rPr>
              <a:t>Display the names of the customers who didn’t order from beverage category.</a:t>
            </a:r>
            <a:endParaRPr lang="en-IN" sz="2800" b="1" dirty="0">
              <a:solidFill>
                <a:schemeClr val="tx2"/>
              </a:solidFill>
            </a:endParaRPr>
          </a:p>
        </p:txBody>
      </p:sp>
    </p:spTree>
    <p:extLst>
      <p:ext uri="{BB962C8B-B14F-4D97-AF65-F5344CB8AC3E}">
        <p14:creationId xmlns:p14="http://schemas.microsoft.com/office/powerpoint/2010/main" val="19821153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6123487-E0CD-788E-8D14-5139BFE85B35}"/>
              </a:ext>
            </a:extLst>
          </p:cNvPr>
          <p:cNvSpPr txBox="1"/>
          <p:nvPr/>
        </p:nvSpPr>
        <p:spPr>
          <a:xfrm>
            <a:off x="5091547" y="1506683"/>
            <a:ext cx="5953990" cy="2862322"/>
          </a:xfrm>
          <a:prstGeom prst="rect">
            <a:avLst/>
          </a:prstGeom>
          <a:noFill/>
        </p:spPr>
        <p:txBody>
          <a:bodyPr wrap="square" rtlCol="0">
            <a:spAutoFit/>
          </a:bodyPr>
          <a:lstStyle/>
          <a:p>
            <a:r>
              <a:rPr lang="en-US" b="1" dirty="0">
                <a:solidFill>
                  <a:schemeClr val="tx1">
                    <a:lumMod val="95000"/>
                    <a:lumOff val="5000"/>
                  </a:schemeClr>
                </a:solidFill>
              </a:rPr>
              <a:t>Syntax: </a:t>
            </a:r>
          </a:p>
          <a:p>
            <a:endParaRPr lang="en-US" b="1" dirty="0">
              <a:solidFill>
                <a:schemeClr val="tx1">
                  <a:lumMod val="95000"/>
                  <a:lumOff val="5000"/>
                </a:schemeClr>
              </a:solidFill>
            </a:endParaRPr>
          </a:p>
          <a:p>
            <a:r>
              <a:rPr lang="en-US" b="1" dirty="0">
                <a:solidFill>
                  <a:srgbClr val="002060"/>
                </a:solidFill>
              </a:rPr>
              <a:t>select name from coffee_snacks</a:t>
            </a:r>
          </a:p>
          <a:p>
            <a:r>
              <a:rPr lang="en-US" b="1" dirty="0">
                <a:solidFill>
                  <a:srgbClr val="002060"/>
                </a:solidFill>
              </a:rPr>
              <a:t> where item_id in </a:t>
            </a:r>
          </a:p>
          <a:p>
            <a:r>
              <a:rPr lang="en-US" b="1" dirty="0">
                <a:solidFill>
                  <a:srgbClr val="002060"/>
                </a:solidFill>
              </a:rPr>
              <a:t>(select item_id from orders </a:t>
            </a:r>
          </a:p>
          <a:p>
            <a:r>
              <a:rPr lang="en-US" b="1" dirty="0">
                <a:solidFill>
                  <a:srgbClr val="002060"/>
                </a:solidFill>
              </a:rPr>
              <a:t>where CustomerID in</a:t>
            </a:r>
          </a:p>
          <a:p>
            <a:r>
              <a:rPr lang="en-US" b="1" dirty="0">
                <a:solidFill>
                  <a:srgbClr val="002060"/>
                </a:solidFill>
              </a:rPr>
              <a:t>(select CustomerID from customer</a:t>
            </a:r>
          </a:p>
          <a:p>
            <a:r>
              <a:rPr lang="en-US" b="1" dirty="0">
                <a:solidFill>
                  <a:srgbClr val="002060"/>
                </a:solidFill>
              </a:rPr>
              <a:t> where LoyaltyPoints &gt; 200</a:t>
            </a:r>
          </a:p>
          <a:p>
            <a:r>
              <a:rPr lang="en-US" b="1" dirty="0">
                <a:solidFill>
                  <a:srgbClr val="002060"/>
                </a:solidFill>
              </a:rPr>
              <a:t>)</a:t>
            </a:r>
          </a:p>
          <a:p>
            <a:r>
              <a:rPr lang="en-US" b="1" dirty="0">
                <a:solidFill>
                  <a:srgbClr val="002060"/>
                </a:solidFill>
              </a:rPr>
              <a:t>);</a:t>
            </a:r>
          </a:p>
        </p:txBody>
      </p:sp>
      <p:sp>
        <p:nvSpPr>
          <p:cNvPr id="6" name="TextBox 5">
            <a:extLst>
              <a:ext uri="{FF2B5EF4-FFF2-40B4-BE49-F238E27FC236}">
                <a16:creationId xmlns:a16="http://schemas.microsoft.com/office/drawing/2014/main" id="{F4589D83-B5B6-06AD-1FCD-8D6039679DA1}"/>
              </a:ext>
            </a:extLst>
          </p:cNvPr>
          <p:cNvSpPr txBox="1"/>
          <p:nvPr/>
        </p:nvSpPr>
        <p:spPr>
          <a:xfrm>
            <a:off x="519546" y="259773"/>
            <a:ext cx="10754590" cy="954107"/>
          </a:xfrm>
          <a:prstGeom prst="rect">
            <a:avLst/>
          </a:prstGeom>
          <a:noFill/>
        </p:spPr>
        <p:txBody>
          <a:bodyPr wrap="square" rtlCol="0">
            <a:spAutoFit/>
          </a:bodyPr>
          <a:lstStyle/>
          <a:p>
            <a:r>
              <a:rPr lang="en-US" sz="2800" b="1" dirty="0">
                <a:solidFill>
                  <a:schemeClr val="tx2"/>
                </a:solidFill>
              </a:rPr>
              <a:t>Display the names of the items ordered by customers with more than 200 Loyalty Points.</a:t>
            </a:r>
            <a:endParaRPr lang="en-IN" sz="2800" b="1" dirty="0">
              <a:solidFill>
                <a:schemeClr val="tx2"/>
              </a:solidFill>
            </a:endParaRPr>
          </a:p>
        </p:txBody>
      </p:sp>
      <p:pic>
        <p:nvPicPr>
          <p:cNvPr id="8" name="Picture 7">
            <a:extLst>
              <a:ext uri="{FF2B5EF4-FFF2-40B4-BE49-F238E27FC236}">
                <a16:creationId xmlns:a16="http://schemas.microsoft.com/office/drawing/2014/main" id="{43D03E0E-C2DC-75D2-3FD8-0A15A63064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2163" y="1506683"/>
            <a:ext cx="3103419" cy="3305413"/>
          </a:xfrm>
          <a:prstGeom prst="rect">
            <a:avLst/>
          </a:prstGeom>
        </p:spPr>
      </p:pic>
    </p:spTree>
    <p:extLst>
      <p:ext uri="{BB962C8B-B14F-4D97-AF65-F5344CB8AC3E}">
        <p14:creationId xmlns:p14="http://schemas.microsoft.com/office/powerpoint/2010/main" val="3629165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7">
            <a:extLst>
              <a:ext uri="{FF2B5EF4-FFF2-40B4-BE49-F238E27FC236}">
                <a16:creationId xmlns:a16="http://schemas.microsoft.com/office/drawing/2014/main" id="{B45F46CE-5C73-B91D-4E75-A552628D8A5D}"/>
              </a:ext>
            </a:extLst>
          </p:cNvPr>
          <p:cNvSpPr txBox="1">
            <a:spLocks/>
          </p:cNvSpPr>
          <p:nvPr/>
        </p:nvSpPr>
        <p:spPr>
          <a:xfrm>
            <a:off x="4499263" y="2776453"/>
            <a:ext cx="2047010" cy="787630"/>
          </a:xfrm>
          <a:prstGeom prst="rect">
            <a:avLst/>
          </a:prstGeom>
        </p:spPr>
        <p:txBody>
          <a:bodyPr>
            <a:noAutofit/>
          </a:bodyPr>
          <a:lst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a:lstStyle>
          <a:p>
            <a:r>
              <a:rPr lang="en-US" sz="4800" dirty="0">
                <a:solidFill>
                  <a:schemeClr val="tx2"/>
                </a:solidFill>
                <a:latin typeface="Bodoni MT Black" panose="02070A03080606020203" pitchFamily="18" charset="0"/>
              </a:rPr>
              <a:t>Joins</a:t>
            </a:r>
            <a:endParaRPr lang="en-IN" sz="4800" dirty="0"/>
          </a:p>
        </p:txBody>
      </p:sp>
    </p:spTree>
    <p:extLst>
      <p:ext uri="{BB962C8B-B14F-4D97-AF65-F5344CB8AC3E}">
        <p14:creationId xmlns:p14="http://schemas.microsoft.com/office/powerpoint/2010/main" val="17605701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B5DB5ED-3433-ADB1-5701-BEE6D8153F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8629" y="1561541"/>
            <a:ext cx="3783762" cy="3187103"/>
          </a:xfrm>
          <a:prstGeom prst="rect">
            <a:avLst/>
          </a:prstGeom>
        </p:spPr>
      </p:pic>
      <p:sp>
        <p:nvSpPr>
          <p:cNvPr id="8" name="TextBox 7">
            <a:extLst>
              <a:ext uri="{FF2B5EF4-FFF2-40B4-BE49-F238E27FC236}">
                <a16:creationId xmlns:a16="http://schemas.microsoft.com/office/drawing/2014/main" id="{EA9233EB-2D57-871E-9572-F2B81791CBD3}"/>
              </a:ext>
            </a:extLst>
          </p:cNvPr>
          <p:cNvSpPr txBox="1"/>
          <p:nvPr/>
        </p:nvSpPr>
        <p:spPr>
          <a:xfrm>
            <a:off x="519546" y="259773"/>
            <a:ext cx="10754590" cy="523220"/>
          </a:xfrm>
          <a:prstGeom prst="rect">
            <a:avLst/>
          </a:prstGeom>
          <a:noFill/>
        </p:spPr>
        <p:txBody>
          <a:bodyPr wrap="square" rtlCol="0">
            <a:spAutoFit/>
          </a:bodyPr>
          <a:lstStyle/>
          <a:p>
            <a:r>
              <a:rPr lang="en-US" sz="2800" b="1" dirty="0">
                <a:solidFill>
                  <a:schemeClr val="tx2"/>
                </a:solidFill>
              </a:rPr>
              <a:t>Display total sales for each category.</a:t>
            </a:r>
            <a:endParaRPr lang="en-IN" sz="2800" b="1" dirty="0">
              <a:solidFill>
                <a:schemeClr val="tx2"/>
              </a:solidFill>
            </a:endParaRPr>
          </a:p>
        </p:txBody>
      </p:sp>
      <p:sp>
        <p:nvSpPr>
          <p:cNvPr id="9" name="TextBox 8">
            <a:extLst>
              <a:ext uri="{FF2B5EF4-FFF2-40B4-BE49-F238E27FC236}">
                <a16:creationId xmlns:a16="http://schemas.microsoft.com/office/drawing/2014/main" id="{9EF140CC-1DFB-8E41-E18C-A3767AA2AF54}"/>
              </a:ext>
            </a:extLst>
          </p:cNvPr>
          <p:cNvSpPr txBox="1"/>
          <p:nvPr/>
        </p:nvSpPr>
        <p:spPr>
          <a:xfrm>
            <a:off x="5896841" y="1561541"/>
            <a:ext cx="4447309" cy="2308324"/>
          </a:xfrm>
          <a:prstGeom prst="rect">
            <a:avLst/>
          </a:prstGeom>
          <a:noFill/>
        </p:spPr>
        <p:txBody>
          <a:bodyPr wrap="square">
            <a:spAutoFit/>
          </a:bodyPr>
          <a:lstStyle/>
          <a:p>
            <a:r>
              <a:rPr lang="en-IN" dirty="0">
                <a:solidFill>
                  <a:schemeClr val="tx1">
                    <a:lumMod val="95000"/>
                    <a:lumOff val="5000"/>
                  </a:schemeClr>
                </a:solidFill>
              </a:rPr>
              <a:t>Syntax:</a:t>
            </a:r>
          </a:p>
          <a:p>
            <a:endParaRPr lang="en-IN" dirty="0"/>
          </a:p>
          <a:p>
            <a:r>
              <a:rPr lang="en-IN" b="1" dirty="0">
                <a:solidFill>
                  <a:srgbClr val="002060"/>
                </a:solidFill>
              </a:rPr>
              <a:t>select cs.Category as Item_Category, sum(o.TotalAmount) as Total_Sales from orders o join coffee_snacks cs</a:t>
            </a:r>
          </a:p>
          <a:p>
            <a:r>
              <a:rPr lang="en-IN" b="1" dirty="0">
                <a:solidFill>
                  <a:srgbClr val="002060"/>
                </a:solidFill>
              </a:rPr>
              <a:t> on o.Item_id = cs.Item_id</a:t>
            </a:r>
          </a:p>
          <a:p>
            <a:r>
              <a:rPr lang="en-IN" b="1" dirty="0">
                <a:solidFill>
                  <a:srgbClr val="002060"/>
                </a:solidFill>
              </a:rPr>
              <a:t>group by cs.Category;</a:t>
            </a:r>
          </a:p>
        </p:txBody>
      </p:sp>
    </p:spTree>
    <p:extLst>
      <p:ext uri="{BB962C8B-B14F-4D97-AF65-F5344CB8AC3E}">
        <p14:creationId xmlns:p14="http://schemas.microsoft.com/office/powerpoint/2010/main" val="12374285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73A3D6B-DAF1-B0C3-E514-B486ED09172B}"/>
              </a:ext>
            </a:extLst>
          </p:cNvPr>
          <p:cNvSpPr txBox="1"/>
          <p:nvPr/>
        </p:nvSpPr>
        <p:spPr>
          <a:xfrm>
            <a:off x="519546" y="259773"/>
            <a:ext cx="10754590" cy="954107"/>
          </a:xfrm>
          <a:prstGeom prst="rect">
            <a:avLst/>
          </a:prstGeom>
          <a:noFill/>
        </p:spPr>
        <p:txBody>
          <a:bodyPr wrap="square" rtlCol="0">
            <a:spAutoFit/>
          </a:bodyPr>
          <a:lstStyle/>
          <a:p>
            <a:r>
              <a:rPr lang="en-US" sz="2800" b="1" dirty="0">
                <a:solidFill>
                  <a:schemeClr val="tx2"/>
                </a:solidFill>
              </a:rPr>
              <a:t>Display top 5 highest spending customers with their orders and total amount spent.</a:t>
            </a:r>
            <a:endParaRPr lang="en-IN" sz="2800" b="1" dirty="0">
              <a:solidFill>
                <a:schemeClr val="tx2"/>
              </a:solidFill>
            </a:endParaRPr>
          </a:p>
        </p:txBody>
      </p:sp>
      <p:sp>
        <p:nvSpPr>
          <p:cNvPr id="4" name="TextBox 3">
            <a:extLst>
              <a:ext uri="{FF2B5EF4-FFF2-40B4-BE49-F238E27FC236}">
                <a16:creationId xmlns:a16="http://schemas.microsoft.com/office/drawing/2014/main" id="{B5E68911-FF1F-6AA0-C9B6-18ED6BC268AF}"/>
              </a:ext>
            </a:extLst>
          </p:cNvPr>
          <p:cNvSpPr txBox="1"/>
          <p:nvPr/>
        </p:nvSpPr>
        <p:spPr>
          <a:xfrm>
            <a:off x="5663045" y="1458008"/>
            <a:ext cx="5611091" cy="5078313"/>
          </a:xfrm>
          <a:prstGeom prst="rect">
            <a:avLst/>
          </a:prstGeom>
          <a:noFill/>
        </p:spPr>
        <p:txBody>
          <a:bodyPr wrap="square">
            <a:spAutoFit/>
          </a:bodyPr>
          <a:lstStyle/>
          <a:p>
            <a:r>
              <a:rPr lang="en-IN" dirty="0">
                <a:solidFill>
                  <a:schemeClr val="tx1">
                    <a:lumMod val="95000"/>
                    <a:lumOff val="5000"/>
                  </a:schemeClr>
                </a:solidFill>
              </a:rPr>
              <a:t>Syntax:</a:t>
            </a:r>
          </a:p>
          <a:p>
            <a:endParaRPr lang="en-IN" dirty="0"/>
          </a:p>
          <a:p>
            <a:r>
              <a:rPr lang="en-IN" b="1" dirty="0">
                <a:solidFill>
                  <a:srgbClr val="002060"/>
                </a:solidFill>
              </a:rPr>
              <a:t>select Orders.OrderID,</a:t>
            </a:r>
          </a:p>
          <a:p>
            <a:r>
              <a:rPr lang="en-IN" b="1" dirty="0">
                <a:solidFill>
                  <a:srgbClr val="002060"/>
                </a:solidFill>
              </a:rPr>
              <a:t>Customer.CustomerName, coffee_Snacks.Name as ItemName,</a:t>
            </a:r>
          </a:p>
          <a:p>
            <a:r>
              <a:rPr lang="en-IN" b="1" dirty="0">
                <a:solidFill>
                  <a:srgbClr val="002060"/>
                </a:solidFill>
              </a:rPr>
              <a:t>Orders.TotalAmount </a:t>
            </a:r>
          </a:p>
          <a:p>
            <a:r>
              <a:rPr lang="en-IN" b="1" dirty="0">
                <a:solidFill>
                  <a:srgbClr val="002060"/>
                </a:solidFill>
              </a:rPr>
              <a:t>from Orders INNER JOIN Customer </a:t>
            </a:r>
          </a:p>
          <a:p>
            <a:r>
              <a:rPr lang="en-IN" b="1" dirty="0">
                <a:solidFill>
                  <a:srgbClr val="002060"/>
                </a:solidFill>
              </a:rPr>
              <a:t>on Orders.CustomerID = Customer.CustomerID</a:t>
            </a:r>
          </a:p>
          <a:p>
            <a:r>
              <a:rPr lang="en-IN" b="1" dirty="0">
                <a:solidFill>
                  <a:srgbClr val="002060"/>
                </a:solidFill>
              </a:rPr>
              <a:t>INNER JOIN Coffee_Snacks</a:t>
            </a:r>
          </a:p>
          <a:p>
            <a:r>
              <a:rPr lang="en-IN" b="1" dirty="0">
                <a:solidFill>
                  <a:srgbClr val="002060"/>
                </a:solidFill>
              </a:rPr>
              <a:t>on Orders.Item_id = Coffee_Snacks.Item_id</a:t>
            </a:r>
          </a:p>
          <a:p>
            <a:r>
              <a:rPr lang="en-IN" b="1" dirty="0">
                <a:solidFill>
                  <a:srgbClr val="002060"/>
                </a:solidFill>
              </a:rPr>
              <a:t>where Customer.CustomerID in</a:t>
            </a:r>
          </a:p>
          <a:p>
            <a:r>
              <a:rPr lang="en-IN" b="1" dirty="0">
                <a:solidFill>
                  <a:srgbClr val="002060"/>
                </a:solidFill>
              </a:rPr>
              <a:t>(selectTopCustomers.CustomerID    from (select CustomerID from Orders  group by CustomerID </a:t>
            </a:r>
          </a:p>
          <a:p>
            <a:r>
              <a:rPr lang="en-IN" b="1" dirty="0">
                <a:solidFill>
                  <a:srgbClr val="002060"/>
                </a:solidFill>
              </a:rPr>
              <a:t>order by sum(TotalAmount) desc</a:t>
            </a:r>
          </a:p>
          <a:p>
            <a:r>
              <a:rPr lang="en-IN" b="1" dirty="0">
                <a:solidFill>
                  <a:srgbClr val="002060"/>
                </a:solidFill>
              </a:rPr>
              <a:t>limit 5)</a:t>
            </a:r>
          </a:p>
          <a:p>
            <a:r>
              <a:rPr lang="en-IN" b="1" dirty="0">
                <a:solidFill>
                  <a:srgbClr val="002060"/>
                </a:solidFill>
              </a:rPr>
              <a:t> as TopCustomers);</a:t>
            </a:r>
          </a:p>
        </p:txBody>
      </p:sp>
      <p:pic>
        <p:nvPicPr>
          <p:cNvPr id="5" name="Picture 4">
            <a:extLst>
              <a:ext uri="{FF2B5EF4-FFF2-40B4-BE49-F238E27FC236}">
                <a16:creationId xmlns:a16="http://schemas.microsoft.com/office/drawing/2014/main" id="{176C8AC3-8685-675C-3E80-4AF75EFE9B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1727" y="1458008"/>
            <a:ext cx="5032983" cy="3674172"/>
          </a:xfrm>
          <a:prstGeom prst="rect">
            <a:avLst/>
          </a:prstGeom>
        </p:spPr>
      </p:pic>
    </p:spTree>
    <p:extLst>
      <p:ext uri="{BB962C8B-B14F-4D97-AF65-F5344CB8AC3E}">
        <p14:creationId xmlns:p14="http://schemas.microsoft.com/office/powerpoint/2010/main" val="26928899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3FBFD2B-1C6C-482A-81D7-29ADB60CF5C1}"/>
              </a:ext>
            </a:extLst>
          </p:cNvPr>
          <p:cNvSpPr txBox="1"/>
          <p:nvPr/>
        </p:nvSpPr>
        <p:spPr>
          <a:xfrm>
            <a:off x="519546" y="259773"/>
            <a:ext cx="10754590" cy="523220"/>
          </a:xfrm>
          <a:prstGeom prst="rect">
            <a:avLst/>
          </a:prstGeom>
          <a:noFill/>
        </p:spPr>
        <p:txBody>
          <a:bodyPr wrap="square" rtlCol="0">
            <a:spAutoFit/>
          </a:bodyPr>
          <a:lstStyle/>
          <a:p>
            <a:r>
              <a:rPr lang="en-US" sz="2800" b="1" dirty="0">
                <a:solidFill>
                  <a:schemeClr val="tx2"/>
                </a:solidFill>
              </a:rPr>
              <a:t>Display total sales handled by each employee.</a:t>
            </a:r>
            <a:endParaRPr lang="en-IN" sz="2800" b="1" dirty="0">
              <a:solidFill>
                <a:schemeClr val="tx2"/>
              </a:solidFill>
            </a:endParaRPr>
          </a:p>
        </p:txBody>
      </p:sp>
      <p:sp>
        <p:nvSpPr>
          <p:cNvPr id="3" name="TextBox 2">
            <a:extLst>
              <a:ext uri="{FF2B5EF4-FFF2-40B4-BE49-F238E27FC236}">
                <a16:creationId xmlns:a16="http://schemas.microsoft.com/office/drawing/2014/main" id="{95597983-A679-8128-6B99-6237D038BBE0}"/>
              </a:ext>
            </a:extLst>
          </p:cNvPr>
          <p:cNvSpPr txBox="1"/>
          <p:nvPr/>
        </p:nvSpPr>
        <p:spPr>
          <a:xfrm>
            <a:off x="5896841" y="1134428"/>
            <a:ext cx="4447309" cy="3416320"/>
          </a:xfrm>
          <a:prstGeom prst="rect">
            <a:avLst/>
          </a:prstGeom>
          <a:noFill/>
        </p:spPr>
        <p:txBody>
          <a:bodyPr wrap="square">
            <a:spAutoFit/>
          </a:bodyPr>
          <a:lstStyle/>
          <a:p>
            <a:r>
              <a:rPr lang="en-IN" dirty="0">
                <a:solidFill>
                  <a:schemeClr val="tx1">
                    <a:lumMod val="95000"/>
                    <a:lumOff val="5000"/>
                  </a:schemeClr>
                </a:solidFill>
              </a:rPr>
              <a:t>Syntax:</a:t>
            </a:r>
          </a:p>
          <a:p>
            <a:endParaRPr lang="en-IN" dirty="0"/>
          </a:p>
          <a:p>
            <a:r>
              <a:rPr lang="en-IN" b="1" dirty="0">
                <a:solidFill>
                  <a:srgbClr val="002060"/>
                </a:solidFill>
              </a:rPr>
              <a:t>select Employees.EmployeeName,    sum(Orders.TotalAmount) as TotalSales</a:t>
            </a:r>
          </a:p>
          <a:p>
            <a:r>
              <a:rPr lang="en-IN" b="1" dirty="0">
                <a:solidFill>
                  <a:srgbClr val="002060"/>
                </a:solidFill>
              </a:rPr>
              <a:t>from</a:t>
            </a:r>
          </a:p>
          <a:p>
            <a:r>
              <a:rPr lang="en-IN" b="1" dirty="0">
                <a:solidFill>
                  <a:srgbClr val="002060"/>
                </a:solidFill>
              </a:rPr>
              <a:t>Orders INNER JOIN Employees </a:t>
            </a:r>
          </a:p>
          <a:p>
            <a:r>
              <a:rPr lang="en-IN" b="1" dirty="0">
                <a:solidFill>
                  <a:srgbClr val="002060"/>
                </a:solidFill>
              </a:rPr>
              <a:t>on Orders.employeeID = Employees.EmployeeID</a:t>
            </a:r>
          </a:p>
          <a:p>
            <a:r>
              <a:rPr lang="en-IN" b="1" dirty="0">
                <a:solidFill>
                  <a:srgbClr val="002060"/>
                </a:solidFill>
              </a:rPr>
              <a:t>Group by Employees.EmployeeName</a:t>
            </a:r>
          </a:p>
          <a:p>
            <a:r>
              <a:rPr lang="en-IN" b="1" dirty="0">
                <a:solidFill>
                  <a:srgbClr val="002060"/>
                </a:solidFill>
              </a:rPr>
              <a:t>order by TotalSales desc</a:t>
            </a:r>
            <a:r>
              <a:rPr lang="en-IN" dirty="0">
                <a:solidFill>
                  <a:srgbClr val="002060"/>
                </a:solidFill>
              </a:rPr>
              <a:t>;</a:t>
            </a:r>
          </a:p>
        </p:txBody>
      </p:sp>
      <p:pic>
        <p:nvPicPr>
          <p:cNvPr id="6" name="Picture 5">
            <a:extLst>
              <a:ext uri="{FF2B5EF4-FFF2-40B4-BE49-F238E27FC236}">
                <a16:creationId xmlns:a16="http://schemas.microsoft.com/office/drawing/2014/main" id="{D3BF7DE6-7285-0CC1-497C-917A4D4FEB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3576" y="1134428"/>
            <a:ext cx="4447309" cy="5193636"/>
          </a:xfrm>
          <a:prstGeom prst="rect">
            <a:avLst/>
          </a:prstGeom>
        </p:spPr>
      </p:pic>
    </p:spTree>
    <p:extLst>
      <p:ext uri="{BB962C8B-B14F-4D97-AF65-F5344CB8AC3E}">
        <p14:creationId xmlns:p14="http://schemas.microsoft.com/office/powerpoint/2010/main" val="16110115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FBA80C1-B367-BEE0-2F28-1959F06DAB9E}"/>
              </a:ext>
            </a:extLst>
          </p:cNvPr>
          <p:cNvSpPr txBox="1"/>
          <p:nvPr/>
        </p:nvSpPr>
        <p:spPr>
          <a:xfrm>
            <a:off x="519546" y="259773"/>
            <a:ext cx="10754590" cy="523220"/>
          </a:xfrm>
          <a:prstGeom prst="rect">
            <a:avLst/>
          </a:prstGeom>
          <a:noFill/>
        </p:spPr>
        <p:txBody>
          <a:bodyPr wrap="square" rtlCol="0">
            <a:spAutoFit/>
          </a:bodyPr>
          <a:lstStyle/>
          <a:p>
            <a:r>
              <a:rPr lang="en-US" sz="2800" b="1" dirty="0">
                <a:solidFill>
                  <a:schemeClr val="tx2"/>
                </a:solidFill>
              </a:rPr>
              <a:t>Display employee hierarchy.</a:t>
            </a:r>
            <a:endParaRPr lang="en-IN" sz="2800" b="1" dirty="0">
              <a:solidFill>
                <a:schemeClr val="tx2"/>
              </a:solidFill>
            </a:endParaRPr>
          </a:p>
        </p:txBody>
      </p:sp>
      <p:sp>
        <p:nvSpPr>
          <p:cNvPr id="6" name="TextBox 5">
            <a:extLst>
              <a:ext uri="{FF2B5EF4-FFF2-40B4-BE49-F238E27FC236}">
                <a16:creationId xmlns:a16="http://schemas.microsoft.com/office/drawing/2014/main" id="{3D7D2435-24A0-E538-78AF-A4D413A081FD}"/>
              </a:ext>
            </a:extLst>
          </p:cNvPr>
          <p:cNvSpPr txBox="1"/>
          <p:nvPr/>
        </p:nvSpPr>
        <p:spPr>
          <a:xfrm>
            <a:off x="5896841" y="1198734"/>
            <a:ext cx="4447309" cy="2585323"/>
          </a:xfrm>
          <a:prstGeom prst="rect">
            <a:avLst/>
          </a:prstGeom>
          <a:noFill/>
        </p:spPr>
        <p:txBody>
          <a:bodyPr wrap="square">
            <a:spAutoFit/>
          </a:bodyPr>
          <a:lstStyle/>
          <a:p>
            <a:r>
              <a:rPr lang="en-IN" b="1" dirty="0">
                <a:solidFill>
                  <a:schemeClr val="tx2"/>
                </a:solidFill>
              </a:rPr>
              <a:t>Self Join</a:t>
            </a:r>
          </a:p>
          <a:p>
            <a:r>
              <a:rPr lang="en-IN" dirty="0">
                <a:solidFill>
                  <a:schemeClr val="tx1">
                    <a:lumMod val="95000"/>
                    <a:lumOff val="5000"/>
                  </a:schemeClr>
                </a:solidFill>
              </a:rPr>
              <a:t>Syntax:</a:t>
            </a:r>
          </a:p>
          <a:p>
            <a:endParaRPr lang="en-IN" dirty="0"/>
          </a:p>
          <a:p>
            <a:r>
              <a:rPr lang="en-IN" b="1" dirty="0">
                <a:solidFill>
                  <a:srgbClr val="002060"/>
                </a:solidFill>
              </a:rPr>
              <a:t>select e1.EmployeeName as manager,</a:t>
            </a:r>
          </a:p>
          <a:p>
            <a:r>
              <a:rPr lang="en-IN" b="1" dirty="0">
                <a:solidFill>
                  <a:srgbClr val="002060"/>
                </a:solidFill>
              </a:rPr>
              <a:t>e2.EmployeeName as employee</a:t>
            </a:r>
          </a:p>
          <a:p>
            <a:r>
              <a:rPr lang="en-IN" b="1" dirty="0">
                <a:solidFill>
                  <a:srgbClr val="002060"/>
                </a:solidFill>
              </a:rPr>
              <a:t>from Employees e1 JOIN Employees e2 </a:t>
            </a:r>
          </a:p>
          <a:p>
            <a:r>
              <a:rPr lang="en-IN" b="1" dirty="0">
                <a:solidFill>
                  <a:srgbClr val="002060"/>
                </a:solidFill>
              </a:rPr>
              <a:t>ON e1.employeeid = e2.manager_ID;</a:t>
            </a:r>
          </a:p>
        </p:txBody>
      </p:sp>
      <p:pic>
        <p:nvPicPr>
          <p:cNvPr id="8" name="Picture 7">
            <a:extLst>
              <a:ext uri="{FF2B5EF4-FFF2-40B4-BE49-F238E27FC236}">
                <a16:creationId xmlns:a16="http://schemas.microsoft.com/office/drawing/2014/main" id="{1AFF0394-6D3E-0680-0B12-8C359F1A52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9546" y="1170867"/>
            <a:ext cx="4738254" cy="4835078"/>
          </a:xfrm>
          <a:prstGeom prst="rect">
            <a:avLst/>
          </a:prstGeom>
        </p:spPr>
      </p:pic>
    </p:spTree>
    <p:extLst>
      <p:ext uri="{BB962C8B-B14F-4D97-AF65-F5344CB8AC3E}">
        <p14:creationId xmlns:p14="http://schemas.microsoft.com/office/powerpoint/2010/main" val="14107459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7">
            <a:extLst>
              <a:ext uri="{FF2B5EF4-FFF2-40B4-BE49-F238E27FC236}">
                <a16:creationId xmlns:a16="http://schemas.microsoft.com/office/drawing/2014/main" id="{55962E42-709E-8C6B-6FD1-BC3D6A3D1238}"/>
              </a:ext>
            </a:extLst>
          </p:cNvPr>
          <p:cNvSpPr txBox="1">
            <a:spLocks/>
          </p:cNvSpPr>
          <p:nvPr/>
        </p:nvSpPr>
        <p:spPr>
          <a:xfrm>
            <a:off x="4499263" y="2776453"/>
            <a:ext cx="2047010" cy="787630"/>
          </a:xfrm>
          <a:prstGeom prst="rect">
            <a:avLst/>
          </a:prstGeom>
        </p:spPr>
        <p:txBody>
          <a:bodyPr>
            <a:noAutofit/>
          </a:bodyPr>
          <a:lst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a:lstStyle>
          <a:p>
            <a:r>
              <a:rPr lang="en-US" sz="4800" dirty="0">
                <a:solidFill>
                  <a:schemeClr val="tx2"/>
                </a:solidFill>
                <a:latin typeface="Bodoni MT Black" panose="02070A03080606020203" pitchFamily="18" charset="0"/>
              </a:rPr>
              <a:t>Views</a:t>
            </a:r>
            <a:endParaRPr lang="en-IN" sz="4800" dirty="0"/>
          </a:p>
        </p:txBody>
      </p:sp>
    </p:spTree>
    <p:extLst>
      <p:ext uri="{BB962C8B-B14F-4D97-AF65-F5344CB8AC3E}">
        <p14:creationId xmlns:p14="http://schemas.microsoft.com/office/powerpoint/2010/main" val="40410313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7AAB984-D355-ED24-ADAA-46DF22776EF3}"/>
              </a:ext>
            </a:extLst>
          </p:cNvPr>
          <p:cNvSpPr txBox="1"/>
          <p:nvPr/>
        </p:nvSpPr>
        <p:spPr>
          <a:xfrm>
            <a:off x="519546" y="259773"/>
            <a:ext cx="10754590" cy="523220"/>
          </a:xfrm>
          <a:prstGeom prst="rect">
            <a:avLst/>
          </a:prstGeom>
          <a:noFill/>
        </p:spPr>
        <p:txBody>
          <a:bodyPr wrap="square" rtlCol="0">
            <a:spAutoFit/>
          </a:bodyPr>
          <a:lstStyle/>
          <a:p>
            <a:r>
              <a:rPr lang="en-US" sz="2800" b="1" dirty="0">
                <a:solidFill>
                  <a:schemeClr val="tx2"/>
                </a:solidFill>
              </a:rPr>
              <a:t>Daily Sales Report.</a:t>
            </a:r>
            <a:endParaRPr lang="en-IN" sz="2800" b="1" dirty="0">
              <a:solidFill>
                <a:schemeClr val="tx2"/>
              </a:solidFill>
            </a:endParaRPr>
          </a:p>
        </p:txBody>
      </p:sp>
      <p:sp>
        <p:nvSpPr>
          <p:cNvPr id="3" name="TextBox 2">
            <a:extLst>
              <a:ext uri="{FF2B5EF4-FFF2-40B4-BE49-F238E27FC236}">
                <a16:creationId xmlns:a16="http://schemas.microsoft.com/office/drawing/2014/main" id="{8F0300CB-4838-2BFF-B636-445EAE3B4A96}"/>
              </a:ext>
            </a:extLst>
          </p:cNvPr>
          <p:cNvSpPr txBox="1"/>
          <p:nvPr/>
        </p:nvSpPr>
        <p:spPr>
          <a:xfrm>
            <a:off x="5896841" y="1198734"/>
            <a:ext cx="4447309" cy="3970318"/>
          </a:xfrm>
          <a:prstGeom prst="rect">
            <a:avLst/>
          </a:prstGeom>
          <a:noFill/>
        </p:spPr>
        <p:txBody>
          <a:bodyPr wrap="square">
            <a:spAutoFit/>
          </a:bodyPr>
          <a:lstStyle/>
          <a:p>
            <a:r>
              <a:rPr lang="en-IN" dirty="0">
                <a:solidFill>
                  <a:schemeClr val="tx1">
                    <a:lumMod val="95000"/>
                    <a:lumOff val="5000"/>
                  </a:schemeClr>
                </a:solidFill>
              </a:rPr>
              <a:t>Syntax:</a:t>
            </a:r>
          </a:p>
          <a:p>
            <a:endParaRPr lang="en-US" dirty="0">
              <a:solidFill>
                <a:srgbClr val="002060"/>
              </a:solidFill>
            </a:endParaRPr>
          </a:p>
          <a:p>
            <a:r>
              <a:rPr lang="en-US" b="1" dirty="0">
                <a:solidFill>
                  <a:srgbClr val="002060"/>
                </a:solidFill>
              </a:rPr>
              <a:t>create view DailySales as </a:t>
            </a:r>
          </a:p>
          <a:p>
            <a:r>
              <a:rPr lang="en-US" b="1" dirty="0">
                <a:solidFill>
                  <a:srgbClr val="002060"/>
                </a:solidFill>
              </a:rPr>
              <a:t>select </a:t>
            </a:r>
          </a:p>
          <a:p>
            <a:r>
              <a:rPr lang="en-US" b="1" dirty="0">
                <a:solidFill>
                  <a:srgbClr val="002060"/>
                </a:solidFill>
              </a:rPr>
              <a:t>DATE(OrderDate) as SaleDate,    DAYNAME(OrderDate) as Day,    SUM(TotalAmount) as TotalSales,    COUNT(OrderID) as TotalOrders </a:t>
            </a:r>
          </a:p>
          <a:p>
            <a:r>
              <a:rPr lang="en-US" b="1" dirty="0">
                <a:solidFill>
                  <a:srgbClr val="002060"/>
                </a:solidFill>
              </a:rPr>
              <a:t>from Orders</a:t>
            </a:r>
          </a:p>
          <a:p>
            <a:r>
              <a:rPr lang="en-US" b="1" dirty="0">
                <a:solidFill>
                  <a:srgbClr val="002060"/>
                </a:solidFill>
              </a:rPr>
              <a:t>group by SaleDate, Day</a:t>
            </a:r>
          </a:p>
          <a:p>
            <a:r>
              <a:rPr lang="en-US" b="1" dirty="0">
                <a:solidFill>
                  <a:srgbClr val="002060"/>
                </a:solidFill>
              </a:rPr>
              <a:t>order by SaleDate;</a:t>
            </a:r>
          </a:p>
          <a:p>
            <a:endParaRPr lang="en-US" b="1" dirty="0">
              <a:solidFill>
                <a:srgbClr val="002060"/>
              </a:solidFill>
            </a:endParaRPr>
          </a:p>
          <a:p>
            <a:endParaRPr lang="en-US" b="1" dirty="0">
              <a:solidFill>
                <a:srgbClr val="002060"/>
              </a:solidFill>
            </a:endParaRPr>
          </a:p>
          <a:p>
            <a:endParaRPr lang="en-IN" dirty="0">
              <a:solidFill>
                <a:srgbClr val="002060"/>
              </a:solidFill>
            </a:endParaRPr>
          </a:p>
        </p:txBody>
      </p:sp>
      <p:pic>
        <p:nvPicPr>
          <p:cNvPr id="14" name="Picture 13">
            <a:extLst>
              <a:ext uri="{FF2B5EF4-FFF2-40B4-BE49-F238E27FC236}">
                <a16:creationId xmlns:a16="http://schemas.microsoft.com/office/drawing/2014/main" id="{4FD38E20-80F0-9D96-6996-C382939CB4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7269" y="1198734"/>
            <a:ext cx="4289976" cy="4887007"/>
          </a:xfrm>
          <a:prstGeom prst="rect">
            <a:avLst/>
          </a:prstGeom>
        </p:spPr>
      </p:pic>
    </p:spTree>
    <p:extLst>
      <p:ext uri="{BB962C8B-B14F-4D97-AF65-F5344CB8AC3E}">
        <p14:creationId xmlns:p14="http://schemas.microsoft.com/office/powerpoint/2010/main" val="5055624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25646BE-7457-048E-C488-C0878CF80A3D}"/>
              </a:ext>
            </a:extLst>
          </p:cNvPr>
          <p:cNvSpPr txBox="1"/>
          <p:nvPr/>
        </p:nvSpPr>
        <p:spPr>
          <a:xfrm>
            <a:off x="5616287" y="1005087"/>
            <a:ext cx="5273386" cy="6186309"/>
          </a:xfrm>
          <a:prstGeom prst="rect">
            <a:avLst/>
          </a:prstGeom>
          <a:noFill/>
        </p:spPr>
        <p:txBody>
          <a:bodyPr wrap="square">
            <a:spAutoFit/>
          </a:bodyPr>
          <a:lstStyle/>
          <a:p>
            <a:r>
              <a:rPr lang="en-IN" dirty="0">
                <a:solidFill>
                  <a:schemeClr val="tx1">
                    <a:lumMod val="95000"/>
                    <a:lumOff val="5000"/>
                  </a:schemeClr>
                </a:solidFill>
              </a:rPr>
              <a:t>Syntax:</a:t>
            </a:r>
            <a:endParaRPr lang="en-IN" dirty="0"/>
          </a:p>
          <a:p>
            <a:r>
              <a:rPr lang="en-IN" b="1" dirty="0">
                <a:solidFill>
                  <a:srgbClr val="002060"/>
                </a:solidFill>
              </a:rPr>
              <a:t>create view CategoryMaxQty as</a:t>
            </a:r>
          </a:p>
          <a:p>
            <a:r>
              <a:rPr lang="en-IN" b="1" dirty="0">
                <a:solidFill>
                  <a:srgbClr val="002060"/>
                </a:solidFill>
              </a:rPr>
              <a:t>with CategoryTotals as</a:t>
            </a:r>
          </a:p>
          <a:p>
            <a:r>
              <a:rPr lang="en-IN" b="1" dirty="0">
                <a:solidFill>
                  <a:srgbClr val="002060"/>
                </a:solidFill>
              </a:rPr>
              <a:t>(select cs.category,cs.name,max(o.quantity) as totalquantity from coffee_snacks cs left join orders o on cs.item_id = o.item_id group by cs.name,cs.category order by totalquantity desc),</a:t>
            </a:r>
          </a:p>
          <a:p>
            <a:r>
              <a:rPr lang="en-IN" b="1" dirty="0">
                <a:solidFill>
                  <a:srgbClr val="002060"/>
                </a:solidFill>
              </a:rPr>
              <a:t>MaxTotals as</a:t>
            </a:r>
          </a:p>
          <a:p>
            <a:r>
              <a:rPr lang="en-IN" b="1" dirty="0">
                <a:solidFill>
                  <a:srgbClr val="002060"/>
                </a:solidFill>
              </a:rPr>
              <a:t>(select cs.category,max(o.quantity) as totalquantity from coffee_snacks cs left join orders o on cs.item_id = o.item_id group by category)</a:t>
            </a:r>
          </a:p>
          <a:p>
            <a:r>
              <a:rPr lang="en-IN" b="1" dirty="0">
                <a:solidFill>
                  <a:srgbClr val="002060"/>
                </a:solidFill>
              </a:rPr>
              <a:t>select  ct.Category, ct.Name, ct.TotalQuantity</a:t>
            </a:r>
          </a:p>
          <a:p>
            <a:r>
              <a:rPr lang="en-IN" b="1" dirty="0">
                <a:solidFill>
                  <a:srgbClr val="002060"/>
                </a:solidFill>
              </a:rPr>
              <a:t>from CategoryTotals ct JOIN MaxTotals mct </a:t>
            </a:r>
          </a:p>
          <a:p>
            <a:r>
              <a:rPr lang="en-IN" b="1" dirty="0">
                <a:solidFill>
                  <a:srgbClr val="002060"/>
                </a:solidFill>
              </a:rPr>
              <a:t>on ct.Category = mct.Category AND ct.TotalQuantity = mct.totalQuantity;</a:t>
            </a:r>
          </a:p>
          <a:p>
            <a:r>
              <a:rPr lang="en-IN" b="1" dirty="0">
                <a:solidFill>
                  <a:srgbClr val="002060"/>
                </a:solidFill>
              </a:rPr>
              <a:t>select * from CategoryMaxQty;</a:t>
            </a:r>
          </a:p>
          <a:p>
            <a:endParaRPr lang="en-IN" dirty="0">
              <a:solidFill>
                <a:srgbClr val="002060"/>
              </a:solidFill>
            </a:endParaRPr>
          </a:p>
        </p:txBody>
      </p:sp>
      <p:sp>
        <p:nvSpPr>
          <p:cNvPr id="5" name="TextBox 4">
            <a:extLst>
              <a:ext uri="{FF2B5EF4-FFF2-40B4-BE49-F238E27FC236}">
                <a16:creationId xmlns:a16="http://schemas.microsoft.com/office/drawing/2014/main" id="{D4E9A28D-4B43-EAB3-5B3F-C55DB9987020}"/>
              </a:ext>
            </a:extLst>
          </p:cNvPr>
          <p:cNvSpPr txBox="1"/>
          <p:nvPr/>
        </p:nvSpPr>
        <p:spPr>
          <a:xfrm>
            <a:off x="519546" y="259773"/>
            <a:ext cx="10754590" cy="523220"/>
          </a:xfrm>
          <a:prstGeom prst="rect">
            <a:avLst/>
          </a:prstGeom>
          <a:noFill/>
        </p:spPr>
        <p:txBody>
          <a:bodyPr wrap="square" rtlCol="0">
            <a:spAutoFit/>
          </a:bodyPr>
          <a:lstStyle/>
          <a:p>
            <a:r>
              <a:rPr lang="en-US" sz="2800" b="1" dirty="0">
                <a:solidFill>
                  <a:schemeClr val="tx2"/>
                </a:solidFill>
              </a:rPr>
              <a:t>Items sold with highest quantities in each category.</a:t>
            </a:r>
            <a:endParaRPr lang="en-IN" sz="2800" b="1" dirty="0">
              <a:solidFill>
                <a:schemeClr val="tx2"/>
              </a:solidFill>
            </a:endParaRPr>
          </a:p>
        </p:txBody>
      </p:sp>
      <p:pic>
        <p:nvPicPr>
          <p:cNvPr id="3" name="Picture 2">
            <a:extLst>
              <a:ext uri="{FF2B5EF4-FFF2-40B4-BE49-F238E27FC236}">
                <a16:creationId xmlns:a16="http://schemas.microsoft.com/office/drawing/2014/main" id="{667B9D3A-731C-3667-2A55-36CC0AB285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9546" y="1042871"/>
            <a:ext cx="4727863" cy="2864111"/>
          </a:xfrm>
          <a:prstGeom prst="rect">
            <a:avLst/>
          </a:prstGeom>
        </p:spPr>
      </p:pic>
    </p:spTree>
    <p:extLst>
      <p:ext uri="{BB962C8B-B14F-4D97-AF65-F5344CB8AC3E}">
        <p14:creationId xmlns:p14="http://schemas.microsoft.com/office/powerpoint/2010/main" val="2733645471"/>
      </p:ext>
    </p:extLst>
  </p:cSld>
  <p:clrMapOvr>
    <a:masterClrMapping/>
  </p:clrMapOvr>
</p:sld>
</file>

<file path=ppt/theme/theme1.xml><?xml version="1.0" encoding="utf-8"?>
<a:theme xmlns:a="http://schemas.openxmlformats.org/drawingml/2006/main" name="View">
  <a:themeElements>
    <a:clrScheme name="Yellow Orange">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Override1.xml><?xml version="1.0" encoding="utf-8"?>
<a:themeOverride xmlns:a="http://schemas.openxmlformats.org/drawingml/2006/main">
  <a:clrScheme name="Yellow Orange">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2.xml><?xml version="1.0" encoding="utf-8"?>
<a:themeOverride xmlns:a="http://schemas.openxmlformats.org/drawingml/2006/main">
  <a:clrScheme name="Yellow Orange">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3.xml><?xml version="1.0" encoding="utf-8"?>
<a:themeOverride xmlns:a="http://schemas.openxmlformats.org/drawingml/2006/main">
  <a:clrScheme name="Yellow Orange">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4.xml><?xml version="1.0" encoding="utf-8"?>
<a:themeOverride xmlns:a="http://schemas.openxmlformats.org/drawingml/2006/main">
  <a:clrScheme name="Yellow Orange">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5.xml><?xml version="1.0" encoding="utf-8"?>
<a:themeOverride xmlns:a="http://schemas.openxmlformats.org/drawingml/2006/main">
  <a:clrScheme name="Yellow Orange">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6.xml><?xml version="1.0" encoding="utf-8"?>
<a:themeOverride xmlns:a="http://schemas.openxmlformats.org/drawingml/2006/main">
  <a:clrScheme name="Yellow Orange">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7.xml><?xml version="1.0" encoding="utf-8"?>
<a:themeOverride xmlns:a="http://schemas.openxmlformats.org/drawingml/2006/main">
  <a:clrScheme name="Yellow Orange">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8.xml><?xml version="1.0" encoding="utf-8"?>
<a:themeOverride xmlns:a="http://schemas.openxmlformats.org/drawingml/2006/main">
  <a:clrScheme name="Yellow Orange">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9.xml><?xml version="1.0" encoding="utf-8"?>
<a:themeOverride xmlns:a="http://schemas.openxmlformats.org/drawingml/2006/main">
  <a:clrScheme name="Yellow Orange">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docProps/app.xml><?xml version="1.0" encoding="utf-8"?>
<Properties xmlns="http://schemas.openxmlformats.org/officeDocument/2006/extended-properties" xmlns:vt="http://schemas.openxmlformats.org/officeDocument/2006/docPropsVTypes">
  <Template/>
  <TotalTime>879</TotalTime>
  <Words>831</Words>
  <Application>Microsoft Office PowerPoint</Application>
  <PresentationFormat>Widescreen</PresentationFormat>
  <Paragraphs>122</Paragraphs>
  <Slides>22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Algerian</vt:lpstr>
      <vt:lpstr>Arial</vt:lpstr>
      <vt:lpstr>Bodoni MT Black</vt:lpstr>
      <vt:lpstr>Century Schoolbook</vt:lpstr>
      <vt:lpstr>Cooper Black</vt:lpstr>
      <vt:lpstr>Forte</vt:lpstr>
      <vt:lpstr>Wingdings 2</vt:lpstr>
      <vt:lpstr>View</vt:lpstr>
      <vt:lpstr>PowerPoint Presentation</vt:lpstr>
      <vt:lpstr>Introduction</vt:lpstr>
      <vt:lpstr>Table of contents</vt:lpstr>
      <vt:lpstr>ER Diagram</vt:lpstr>
      <vt:lpstr>PowerPoint Presentation</vt:lpstr>
      <vt:lpstr>Coffee_snacks table</vt:lpstr>
      <vt:lpstr>Orders table</vt:lpstr>
      <vt:lpstr>Customer table</vt:lpstr>
      <vt:lpstr>Employees table</vt:lpstr>
      <vt:lpstr>Sub-Queries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SAlLONI PATIL</dc:creator>
  <cp:lastModifiedBy>SAlLONI PATIL</cp:lastModifiedBy>
  <cp:revision>12</cp:revision>
  <dcterms:created xsi:type="dcterms:W3CDTF">2025-01-24T04:20:04Z</dcterms:created>
  <dcterms:modified xsi:type="dcterms:W3CDTF">2025-01-30T04:08:51Z</dcterms:modified>
</cp:coreProperties>
</file>